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832100" cy="2000250"/>
  <p:notesSz cx="2832100" cy="2000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34D75-9C6B-4885-BD3E-FA99EA4E552A}" v="44" dt="2026-03-07T09:04:27.3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3" d="100"/>
          <a:sy n="393" d="100"/>
        </p:scale>
        <p:origin x="1632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m Birajdar" userId="d138d392cb4e61f3" providerId="LiveId" clId="{25373E1F-106D-4075-8889-D4F395C7E315}"/>
    <pc:docChg chg="modSld sldOrd">
      <pc:chgData name="Satyam Birajdar" userId="d138d392cb4e61f3" providerId="LiveId" clId="{25373E1F-106D-4075-8889-D4F395C7E315}" dt="2026-03-07T09:17:01.368" v="87"/>
      <pc:docMkLst>
        <pc:docMk/>
      </pc:docMkLst>
      <pc:sldChg chg="ord modTransition">
        <pc:chgData name="Satyam Birajdar" userId="d138d392cb4e61f3" providerId="LiveId" clId="{25373E1F-106D-4075-8889-D4F395C7E315}" dt="2026-03-07T09:17:01.368" v="87"/>
        <pc:sldMkLst>
          <pc:docMk/>
          <pc:sldMk cId="0" sldId="256"/>
        </pc:sldMkLst>
      </pc:sldChg>
      <pc:sldChg chg="modSp mod ord modTransition">
        <pc:chgData name="Satyam Birajdar" userId="d138d392cb4e61f3" providerId="LiveId" clId="{25373E1F-106D-4075-8889-D4F395C7E315}" dt="2026-03-07T09:16:58.466" v="85"/>
        <pc:sldMkLst>
          <pc:docMk/>
          <pc:sldMk cId="0" sldId="257"/>
        </pc:sldMkLst>
        <pc:spChg chg="mod">
          <ac:chgData name="Satyam Birajdar" userId="d138d392cb4e61f3" providerId="LiveId" clId="{25373E1F-106D-4075-8889-D4F395C7E315}" dt="2026-03-07T09:10:08.370" v="54" actId="1076"/>
          <ac:spMkLst>
            <pc:docMk/>
            <pc:sldMk cId="0" sldId="257"/>
            <ac:spMk id="8" creationId="{00000000-0000-0000-0000-000000000000}"/>
          </ac:spMkLst>
        </pc:spChg>
      </pc:sldChg>
      <pc:sldChg chg="modTransition">
        <pc:chgData name="Satyam Birajdar" userId="d138d392cb4e61f3" providerId="LiveId" clId="{25373E1F-106D-4075-8889-D4F395C7E315}" dt="2026-03-07T09:01:58.558" v="23"/>
        <pc:sldMkLst>
          <pc:docMk/>
          <pc:sldMk cId="0" sldId="258"/>
        </pc:sldMkLst>
      </pc:sldChg>
      <pc:sldChg chg="modSp mod modTransition">
        <pc:chgData name="Satyam Birajdar" userId="d138d392cb4e61f3" providerId="LiveId" clId="{25373E1F-106D-4075-8889-D4F395C7E315}" dt="2026-03-07T09:14:25.353" v="78" actId="14100"/>
        <pc:sldMkLst>
          <pc:docMk/>
          <pc:sldMk cId="0" sldId="259"/>
        </pc:sldMkLst>
        <pc:spChg chg="mod">
          <ac:chgData name="Satyam Birajdar" userId="d138d392cb4e61f3" providerId="LiveId" clId="{25373E1F-106D-4075-8889-D4F395C7E315}" dt="2026-03-07T09:13:28.125" v="72" actId="14100"/>
          <ac:spMkLst>
            <pc:docMk/>
            <pc:sldMk cId="0" sldId="259"/>
            <ac:spMk id="8" creationId="{00000000-0000-0000-0000-000000000000}"/>
          </ac:spMkLst>
        </pc:spChg>
        <pc:picChg chg="mod">
          <ac:chgData name="Satyam Birajdar" userId="d138d392cb4e61f3" providerId="LiveId" clId="{25373E1F-106D-4075-8889-D4F395C7E315}" dt="2026-03-07T09:14:25.353" v="78" actId="14100"/>
          <ac:picMkLst>
            <pc:docMk/>
            <pc:sldMk cId="0" sldId="259"/>
            <ac:picMk id="5" creationId="{00000000-0000-0000-0000-000000000000}"/>
          </ac:picMkLst>
        </pc:picChg>
      </pc:sldChg>
      <pc:sldChg chg="modTransition">
        <pc:chgData name="Satyam Birajdar" userId="d138d392cb4e61f3" providerId="LiveId" clId="{25373E1F-106D-4075-8889-D4F395C7E315}" dt="2026-03-07T09:02:24.652" v="25"/>
        <pc:sldMkLst>
          <pc:docMk/>
          <pc:sldMk cId="0" sldId="260"/>
        </pc:sldMkLst>
      </pc:sldChg>
      <pc:sldChg chg="modSp mod modTransition">
        <pc:chgData name="Satyam Birajdar" userId="d138d392cb4e61f3" providerId="LiveId" clId="{25373E1F-106D-4075-8889-D4F395C7E315}" dt="2026-03-07T09:14:42.327" v="79" actId="1076"/>
        <pc:sldMkLst>
          <pc:docMk/>
          <pc:sldMk cId="0" sldId="261"/>
        </pc:sldMkLst>
        <pc:spChg chg="mod">
          <ac:chgData name="Satyam Birajdar" userId="d138d392cb4e61f3" providerId="LiveId" clId="{25373E1F-106D-4075-8889-D4F395C7E315}" dt="2026-03-07T09:14:42.327" v="79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 mod modTransition">
        <pc:chgData name="Satyam Birajdar" userId="d138d392cb4e61f3" providerId="LiveId" clId="{25373E1F-106D-4075-8889-D4F395C7E315}" dt="2026-03-07T09:15:37.801" v="81" actId="1076"/>
        <pc:sldMkLst>
          <pc:docMk/>
          <pc:sldMk cId="0" sldId="262"/>
        </pc:sldMkLst>
        <pc:spChg chg="mod">
          <ac:chgData name="Satyam Birajdar" userId="d138d392cb4e61f3" providerId="LiveId" clId="{25373E1F-106D-4075-8889-D4F395C7E315}" dt="2026-03-07T09:15:28.491" v="80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tyam Birajdar" userId="d138d392cb4e61f3" providerId="LiveId" clId="{25373E1F-106D-4075-8889-D4F395C7E315}" dt="2026-03-07T09:15:37.801" v="81" actId="1076"/>
          <ac:spMkLst>
            <pc:docMk/>
            <pc:sldMk cId="0" sldId="262"/>
            <ac:spMk id="6" creationId="{00000000-0000-0000-0000-000000000000}"/>
          </ac:spMkLst>
        </pc:spChg>
      </pc:sldChg>
      <pc:sldChg chg="modSp mod modTransition">
        <pc:chgData name="Satyam Birajdar" userId="d138d392cb4e61f3" providerId="LiveId" clId="{25373E1F-106D-4075-8889-D4F395C7E315}" dt="2026-03-07T09:15:52.073" v="83" actId="1076"/>
        <pc:sldMkLst>
          <pc:docMk/>
          <pc:sldMk cId="0" sldId="263"/>
        </pc:sldMkLst>
        <pc:spChg chg="mod">
          <ac:chgData name="Satyam Birajdar" userId="d138d392cb4e61f3" providerId="LiveId" clId="{25373E1F-106D-4075-8889-D4F395C7E315}" dt="2026-03-07T09:15:52.073" v="8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Satyam Birajdar" userId="d138d392cb4e61f3" providerId="LiveId" clId="{25373E1F-106D-4075-8889-D4F395C7E315}" dt="2026-03-07T09:15:46.973" v="82" actId="1076"/>
          <ac:spMkLst>
            <pc:docMk/>
            <pc:sldMk cId="0" sldId="263"/>
            <ac:spMk id="6" creationId="{00000000-0000-0000-0000-000000000000}"/>
          </ac:spMkLst>
        </pc:spChg>
      </pc:sldChg>
      <pc:sldChg chg="modTransition">
        <pc:chgData name="Satyam Birajdar" userId="d138d392cb4e61f3" providerId="LiveId" clId="{25373E1F-106D-4075-8889-D4F395C7E315}" dt="2026-03-07T09:03:26.243" v="32"/>
        <pc:sldMkLst>
          <pc:docMk/>
          <pc:sldMk cId="0" sldId="264"/>
        </pc:sldMkLst>
      </pc:sldChg>
      <pc:sldChg chg="modTransition">
        <pc:chgData name="Satyam Birajdar" userId="d138d392cb4e61f3" providerId="LiveId" clId="{25373E1F-106D-4075-8889-D4F395C7E315}" dt="2026-03-07T09:03:50.673" v="37"/>
        <pc:sldMkLst>
          <pc:docMk/>
          <pc:sldMk cId="0" sldId="265"/>
        </pc:sldMkLst>
      </pc:sldChg>
      <pc:sldChg chg="modTransition">
        <pc:chgData name="Satyam Birajdar" userId="d138d392cb4e61f3" providerId="LiveId" clId="{25373E1F-106D-4075-8889-D4F395C7E315}" dt="2026-03-07T09:04:04.366" v="39"/>
        <pc:sldMkLst>
          <pc:docMk/>
          <pc:sldMk cId="0" sldId="266"/>
        </pc:sldMkLst>
      </pc:sldChg>
      <pc:sldChg chg="modTransition">
        <pc:chgData name="Satyam Birajdar" userId="d138d392cb4e61f3" providerId="LiveId" clId="{25373E1F-106D-4075-8889-D4F395C7E315}" dt="2026-03-07T09:04:13.990" v="40"/>
        <pc:sldMkLst>
          <pc:docMk/>
          <pc:sldMk cId="0" sldId="267"/>
        </pc:sldMkLst>
      </pc:sldChg>
      <pc:sldChg chg="modTransition">
        <pc:chgData name="Satyam Birajdar" userId="d138d392cb4e61f3" providerId="LiveId" clId="{25373E1F-106D-4075-8889-D4F395C7E315}" dt="2026-03-07T09:04:27.312" v="43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2407" y="620077"/>
            <a:ext cx="2407285" cy="420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24815" y="1120140"/>
            <a:ext cx="1982470" cy="500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829560" cy="2000885"/>
          </a:xfrm>
          <a:custGeom>
            <a:avLst/>
            <a:gdLst/>
            <a:ahLst/>
            <a:cxnLst/>
            <a:rect l="l" t="t" r="r" b="b"/>
            <a:pathLst>
              <a:path w="2829560" h="2000885">
                <a:moveTo>
                  <a:pt x="2828933" y="2000256"/>
                </a:moveTo>
                <a:lnTo>
                  <a:pt x="0" y="2000256"/>
                </a:lnTo>
                <a:lnTo>
                  <a:pt x="0" y="0"/>
                </a:lnTo>
                <a:lnTo>
                  <a:pt x="2828933" y="0"/>
                </a:lnTo>
                <a:lnTo>
                  <a:pt x="2828933" y="2000256"/>
                </a:lnTo>
                <a:close/>
              </a:path>
            </a:pathLst>
          </a:custGeom>
          <a:solidFill>
            <a:srgbClr val="F9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605" y="460057"/>
            <a:ext cx="1231963" cy="1320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458531" y="460057"/>
            <a:ext cx="1231963" cy="1320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525270" cy="2000885"/>
          </a:xfrm>
          <a:custGeom>
            <a:avLst/>
            <a:gdLst/>
            <a:ahLst/>
            <a:cxnLst/>
            <a:rect l="l" t="t" r="r" b="b"/>
            <a:pathLst>
              <a:path w="1525270" h="2000885">
                <a:moveTo>
                  <a:pt x="0" y="2000256"/>
                </a:moveTo>
                <a:lnTo>
                  <a:pt x="1524697" y="2000256"/>
                </a:lnTo>
                <a:lnTo>
                  <a:pt x="1524697" y="0"/>
                </a:lnTo>
                <a:lnTo>
                  <a:pt x="0" y="0"/>
                </a:lnTo>
                <a:lnTo>
                  <a:pt x="0" y="2000256"/>
                </a:lnTo>
                <a:close/>
              </a:path>
            </a:pathLst>
          </a:custGeom>
          <a:solidFill>
            <a:srgbClr val="F9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697" y="0"/>
            <a:ext cx="1304290" cy="2000250"/>
          </a:xfrm>
          <a:custGeom>
            <a:avLst/>
            <a:gdLst/>
            <a:ahLst/>
            <a:cxnLst/>
            <a:rect l="l" t="t" r="r" b="b"/>
            <a:pathLst>
              <a:path w="1304289" h="2000250">
                <a:moveTo>
                  <a:pt x="1304227" y="2000249"/>
                </a:moveTo>
                <a:lnTo>
                  <a:pt x="0" y="2000249"/>
                </a:lnTo>
                <a:lnTo>
                  <a:pt x="0" y="0"/>
                </a:lnTo>
                <a:lnTo>
                  <a:pt x="1304227" y="0"/>
                </a:lnTo>
                <a:lnTo>
                  <a:pt x="1304227" y="2000249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95451" y="458247"/>
            <a:ext cx="1149985" cy="1102995"/>
          </a:xfrm>
          <a:custGeom>
            <a:avLst/>
            <a:gdLst/>
            <a:ahLst/>
            <a:cxnLst/>
            <a:rect l="l" t="t" r="r" b="b"/>
            <a:pathLst>
              <a:path w="1149985" h="1102995">
                <a:moveTo>
                  <a:pt x="1149833" y="1102462"/>
                </a:moveTo>
                <a:lnTo>
                  <a:pt x="0" y="1102462"/>
                </a:lnTo>
                <a:lnTo>
                  <a:pt x="0" y="0"/>
                </a:lnTo>
                <a:lnTo>
                  <a:pt x="1149833" y="0"/>
                </a:lnTo>
                <a:lnTo>
                  <a:pt x="1149833" y="11024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8199" y="522383"/>
            <a:ext cx="1085853" cy="96960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967" y="1800239"/>
            <a:ext cx="1131260" cy="1320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589" y="840"/>
            <a:ext cx="2118961" cy="261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893" y="579254"/>
            <a:ext cx="1352550" cy="1323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62914" y="1860232"/>
            <a:ext cx="906272" cy="100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1605" y="1860232"/>
            <a:ext cx="651383" cy="100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039112" y="1860232"/>
            <a:ext cx="651383" cy="100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91" y="641768"/>
            <a:ext cx="14541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solidFill>
                  <a:srgbClr val="000000"/>
                </a:solidFill>
              </a:rPr>
              <a:t>Superstore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Business </a:t>
            </a:r>
            <a:r>
              <a:rPr sz="1100" spc="-25" dirty="0">
                <a:solidFill>
                  <a:srgbClr val="000000"/>
                </a:solidFill>
              </a:rPr>
              <a:t>Intelligence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Dashboard</a:t>
            </a:r>
            <a:endParaRPr sz="110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28925" cy="2000250"/>
            <a:chOff x="0" y="0"/>
            <a:chExt cx="2828925" cy="20002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28925" cy="328295"/>
            </a:xfrm>
            <a:custGeom>
              <a:avLst/>
              <a:gdLst/>
              <a:ahLst/>
              <a:cxnLst/>
              <a:rect l="l" t="t" r="r" b="b"/>
              <a:pathLst>
                <a:path w="2828925" h="328295">
                  <a:moveTo>
                    <a:pt x="2828925" y="328024"/>
                  </a:moveTo>
                  <a:lnTo>
                    <a:pt x="0" y="328024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328024"/>
                  </a:lnTo>
                  <a:close/>
                </a:path>
              </a:pathLst>
            </a:custGeom>
            <a:solidFill>
              <a:srgbClr val="5E5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697" y="0"/>
              <a:ext cx="1304290" cy="2000250"/>
            </a:xfrm>
            <a:custGeom>
              <a:avLst/>
              <a:gdLst/>
              <a:ahLst/>
              <a:cxnLst/>
              <a:rect l="l" t="t" r="r" b="b"/>
              <a:pathLst>
                <a:path w="1304289" h="2000250">
                  <a:moveTo>
                    <a:pt x="1304227" y="2000249"/>
                  </a:moveTo>
                  <a:lnTo>
                    <a:pt x="0" y="2000249"/>
                  </a:lnTo>
                  <a:lnTo>
                    <a:pt x="0" y="0"/>
                  </a:lnTo>
                  <a:lnTo>
                    <a:pt x="1304227" y="0"/>
                  </a:lnTo>
                  <a:lnTo>
                    <a:pt x="1304227" y="2000249"/>
                  </a:lnTo>
                  <a:close/>
                </a:path>
              </a:pathLst>
            </a:custGeom>
            <a:solidFill>
              <a:srgbClr val="5E5273">
                <a:alpha val="5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9650" y="383839"/>
              <a:ext cx="952502" cy="8382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9650" y="1274436"/>
              <a:ext cx="952503" cy="53340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3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50" dirty="0"/>
              <a:t>Business</a:t>
            </a:r>
            <a:r>
              <a:rPr sz="1250" spc="35" dirty="0"/>
              <a:t> </a:t>
            </a:r>
            <a:r>
              <a:rPr sz="1250" spc="-10" dirty="0"/>
              <a:t>Problem</a:t>
            </a:r>
            <a:endParaRPr sz="1250"/>
          </a:p>
        </p:txBody>
      </p:sp>
      <p:sp>
        <p:nvSpPr>
          <p:cNvPr id="8" name="object 8"/>
          <p:cNvSpPr txBox="1"/>
          <p:nvPr/>
        </p:nvSpPr>
        <p:spPr>
          <a:xfrm>
            <a:off x="55324" y="291661"/>
            <a:ext cx="1414050" cy="17237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8110">
              <a:lnSpc>
                <a:spcPct val="116199"/>
              </a:lnSpc>
              <a:spcBef>
                <a:spcPts val="100"/>
              </a:spcBef>
            </a:pPr>
            <a:r>
              <a:rPr sz="85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Retail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leadership</a:t>
            </a:r>
            <a:r>
              <a:rPr sz="850" dirty="0">
                <a:latin typeface="Georgia"/>
                <a:cs typeface="Georgia"/>
              </a:rPr>
              <a:t> 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lacks</a:t>
            </a:r>
            <a:r>
              <a:rPr sz="850" u="sng" spc="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clear</a:t>
            </a:r>
            <a:r>
              <a:rPr sz="850" spc="500" dirty="0">
                <a:latin typeface="Georgia"/>
                <a:cs typeface="Georgia"/>
              </a:rPr>
              <a:t> </a:t>
            </a:r>
            <a:r>
              <a:rPr sz="850" u="sng" spc="-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visibility</a:t>
            </a:r>
            <a:r>
              <a:rPr sz="850" u="sng" spc="8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into</a:t>
            </a:r>
            <a:r>
              <a:rPr sz="850" spc="-10" dirty="0">
                <a:latin typeface="Georgia"/>
                <a:cs typeface="Georgia"/>
              </a:rPr>
              <a:t>:</a:t>
            </a:r>
            <a:endParaRPr sz="850" dirty="0">
              <a:latin typeface="Georgia"/>
              <a:cs typeface="Georgia"/>
            </a:endParaRPr>
          </a:p>
          <a:p>
            <a:pPr marL="53340" indent="-46355">
              <a:lnSpc>
                <a:spcPct val="100000"/>
              </a:lnSpc>
              <a:spcBef>
                <a:spcPts val="225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Product</a:t>
            </a:r>
            <a:r>
              <a:rPr sz="550" spc="5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profitability</a:t>
            </a:r>
            <a:endParaRPr sz="550" dirty="0">
              <a:latin typeface="Georgia"/>
              <a:cs typeface="Georgia"/>
            </a:endParaRPr>
          </a:p>
          <a:p>
            <a:pPr marL="53340" indent="-46355">
              <a:lnSpc>
                <a:spcPct val="100000"/>
              </a:lnSpc>
              <a:spcBef>
                <a:spcPts val="100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Regional</a:t>
            </a:r>
            <a:r>
              <a:rPr sz="550" spc="-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performance</a:t>
            </a:r>
            <a:endParaRPr sz="550" dirty="0">
              <a:latin typeface="Georgia"/>
              <a:cs typeface="Georgia"/>
            </a:endParaRPr>
          </a:p>
          <a:p>
            <a:pPr marL="53340" indent="-46355">
              <a:lnSpc>
                <a:spcPct val="100000"/>
              </a:lnSpc>
              <a:spcBef>
                <a:spcPts val="100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Impact</a:t>
            </a:r>
            <a:r>
              <a:rPr sz="550" spc="5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of</a:t>
            </a:r>
            <a:r>
              <a:rPr sz="550" spc="5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discounts</a:t>
            </a:r>
            <a:r>
              <a:rPr sz="550" spc="5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on</a:t>
            </a:r>
            <a:r>
              <a:rPr sz="550" spc="5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profit</a:t>
            </a:r>
            <a:endParaRPr sz="550" dirty="0">
              <a:latin typeface="Georgia"/>
              <a:cs typeface="Georgia"/>
            </a:endParaRPr>
          </a:p>
          <a:p>
            <a:pPr marL="53340" indent="-46355">
              <a:lnSpc>
                <a:spcPct val="100000"/>
              </a:lnSpc>
              <a:spcBef>
                <a:spcPts val="95"/>
              </a:spcBef>
              <a:buChar char="*"/>
              <a:tabLst>
                <a:tab pos="53340" algn="l"/>
              </a:tabLst>
            </a:pPr>
            <a:r>
              <a:rPr sz="550" spc="20" dirty="0">
                <a:latin typeface="Georgia"/>
                <a:cs typeface="Georgia"/>
              </a:rPr>
              <a:t>Customer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segment </a:t>
            </a:r>
            <a:r>
              <a:rPr sz="550" spc="-10" dirty="0">
                <a:latin typeface="Georgia"/>
                <a:cs typeface="Georgia"/>
              </a:rPr>
              <a:t>contribution</a:t>
            </a:r>
            <a:endParaRPr sz="5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850" u="sng" spc="-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This</a:t>
            </a:r>
            <a:r>
              <a:rPr sz="850" u="sng" spc="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creates</a:t>
            </a:r>
            <a:r>
              <a:rPr sz="850" u="sng" spc="1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challen</a:t>
            </a:r>
            <a:r>
              <a:rPr sz="850" dirty="0">
                <a:latin typeface="Georgia"/>
                <a:cs typeface="Georgia"/>
              </a:rPr>
              <a:t>g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es</a:t>
            </a:r>
            <a:r>
              <a:rPr sz="850" u="sng" spc="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in:</a:t>
            </a:r>
            <a:endParaRPr sz="850" dirty="0">
              <a:latin typeface="Georgia"/>
              <a:cs typeface="Georgia"/>
            </a:endParaRPr>
          </a:p>
          <a:p>
            <a:pPr marL="55880" indent="-49530">
              <a:lnSpc>
                <a:spcPct val="100000"/>
              </a:lnSpc>
              <a:spcBef>
                <a:spcPts val="135"/>
              </a:spcBef>
              <a:buChar char="*"/>
              <a:tabLst>
                <a:tab pos="55880" algn="l"/>
              </a:tabLst>
            </a:pPr>
            <a:r>
              <a:rPr sz="600" spc="-20" dirty="0">
                <a:latin typeface="Georgia"/>
                <a:cs typeface="Georgia"/>
              </a:rPr>
              <a:t>Identifying</a:t>
            </a:r>
            <a:r>
              <a:rPr sz="600" spc="20" dirty="0">
                <a:latin typeface="Georgia"/>
                <a:cs typeface="Georgia"/>
              </a:rPr>
              <a:t> </a:t>
            </a:r>
            <a:r>
              <a:rPr sz="600" dirty="0">
                <a:latin typeface="Georgia"/>
                <a:cs typeface="Georgia"/>
              </a:rPr>
              <a:t>profitable</a:t>
            </a:r>
            <a:r>
              <a:rPr sz="600" spc="20" dirty="0">
                <a:latin typeface="Georgia"/>
                <a:cs typeface="Georgia"/>
              </a:rPr>
              <a:t> </a:t>
            </a:r>
            <a:r>
              <a:rPr sz="600" spc="-10" dirty="0">
                <a:latin typeface="Georgia"/>
                <a:cs typeface="Georgia"/>
              </a:rPr>
              <a:t>products</a:t>
            </a:r>
            <a:endParaRPr sz="600" dirty="0">
              <a:latin typeface="Georgia"/>
              <a:cs typeface="Georgia"/>
            </a:endParaRPr>
          </a:p>
          <a:p>
            <a:pPr marL="55880" indent="-49530">
              <a:lnSpc>
                <a:spcPct val="100000"/>
              </a:lnSpc>
              <a:spcBef>
                <a:spcPts val="85"/>
              </a:spcBef>
              <a:buChar char="*"/>
              <a:tabLst>
                <a:tab pos="55880" algn="l"/>
              </a:tabLst>
            </a:pPr>
            <a:r>
              <a:rPr sz="600" spc="-10" dirty="0">
                <a:latin typeface="Georgia"/>
                <a:cs typeface="Georgia"/>
              </a:rPr>
              <a:t>Optimizing</a:t>
            </a:r>
            <a:r>
              <a:rPr sz="600" spc="20" dirty="0">
                <a:latin typeface="Georgia"/>
                <a:cs typeface="Georgia"/>
              </a:rPr>
              <a:t> </a:t>
            </a:r>
            <a:r>
              <a:rPr sz="600" dirty="0">
                <a:latin typeface="Georgia"/>
                <a:cs typeface="Georgia"/>
              </a:rPr>
              <a:t>discount</a:t>
            </a:r>
            <a:r>
              <a:rPr sz="600" spc="25" dirty="0">
                <a:latin typeface="Georgia"/>
                <a:cs typeface="Georgia"/>
              </a:rPr>
              <a:t> </a:t>
            </a:r>
            <a:r>
              <a:rPr sz="600" spc="-10" dirty="0">
                <a:latin typeface="Georgia"/>
                <a:cs typeface="Georgia"/>
              </a:rPr>
              <a:t>strategies</a:t>
            </a:r>
            <a:endParaRPr sz="600" dirty="0">
              <a:latin typeface="Georgia"/>
              <a:cs typeface="Georgia"/>
            </a:endParaRPr>
          </a:p>
          <a:p>
            <a:pPr marL="55880" indent="-49530">
              <a:lnSpc>
                <a:spcPct val="100000"/>
              </a:lnSpc>
              <a:spcBef>
                <a:spcPts val="85"/>
              </a:spcBef>
              <a:buChar char="*"/>
              <a:tabLst>
                <a:tab pos="55880" algn="l"/>
              </a:tabLst>
            </a:pPr>
            <a:r>
              <a:rPr sz="600" spc="-10" dirty="0">
                <a:latin typeface="Georgia"/>
                <a:cs typeface="Georgia"/>
              </a:rPr>
              <a:t>Expanding</a:t>
            </a:r>
            <a:r>
              <a:rPr sz="600" spc="25" dirty="0">
                <a:latin typeface="Georgia"/>
                <a:cs typeface="Georgia"/>
              </a:rPr>
              <a:t> </a:t>
            </a:r>
            <a:r>
              <a:rPr sz="600" spc="-10" dirty="0">
                <a:latin typeface="Georgia"/>
                <a:cs typeface="Georgia"/>
              </a:rPr>
              <a:t>high-</a:t>
            </a:r>
            <a:r>
              <a:rPr sz="600" dirty="0">
                <a:latin typeface="Georgia"/>
                <a:cs typeface="Georgia"/>
              </a:rPr>
              <a:t>performing</a:t>
            </a:r>
            <a:r>
              <a:rPr sz="600" spc="25" dirty="0">
                <a:latin typeface="Georgia"/>
                <a:cs typeface="Georgia"/>
              </a:rPr>
              <a:t> </a:t>
            </a:r>
            <a:r>
              <a:rPr sz="600" spc="-10" dirty="0">
                <a:latin typeface="Georgia"/>
                <a:cs typeface="Georgia"/>
              </a:rPr>
              <a:t>markets</a:t>
            </a:r>
            <a:endParaRPr sz="6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800" u="sng" spc="-3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Key</a:t>
            </a:r>
            <a:r>
              <a:rPr sz="800" u="sng" spc="3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Ob</a:t>
            </a:r>
            <a:r>
              <a:rPr sz="800" spc="-10" dirty="0">
                <a:latin typeface="Georgia"/>
                <a:cs typeface="Georgia"/>
              </a:rPr>
              <a:t>j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ective</a:t>
            </a:r>
            <a:endParaRPr sz="800" dirty="0">
              <a:latin typeface="Georgia"/>
              <a:cs typeface="Georgia"/>
            </a:endParaRPr>
          </a:p>
          <a:p>
            <a:pPr marL="12700" marR="5080">
              <a:lnSpc>
                <a:spcPct val="119500"/>
              </a:lnSpc>
              <a:spcBef>
                <a:spcPts val="120"/>
              </a:spcBef>
            </a:pPr>
            <a:r>
              <a:rPr sz="500" dirty="0">
                <a:latin typeface="Georgia"/>
                <a:cs typeface="Georgia"/>
              </a:rPr>
              <a:t>Build</a:t>
            </a:r>
            <a:r>
              <a:rPr sz="500" spc="135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a</a:t>
            </a:r>
            <a:r>
              <a:rPr sz="500" spc="140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decision-focused</a:t>
            </a:r>
            <a:r>
              <a:rPr sz="500" spc="135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analytics</a:t>
            </a:r>
            <a:r>
              <a:rPr sz="500" spc="140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dashboard</a:t>
            </a:r>
            <a:r>
              <a:rPr sz="500" spc="140" dirty="0">
                <a:latin typeface="Georgia"/>
                <a:cs typeface="Georgia"/>
              </a:rPr>
              <a:t> </a:t>
            </a:r>
            <a:r>
              <a:rPr sz="500" spc="-25" dirty="0">
                <a:latin typeface="Georgia"/>
                <a:cs typeface="Georgia"/>
              </a:rPr>
              <a:t>to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identify</a:t>
            </a:r>
            <a:r>
              <a:rPr sz="500" spc="30" dirty="0">
                <a:latin typeface="Georgia"/>
                <a:cs typeface="Georgia"/>
              </a:rPr>
              <a:t> </a:t>
            </a:r>
            <a:r>
              <a:rPr sz="500" spc="10" dirty="0">
                <a:latin typeface="Georgia"/>
                <a:cs typeface="Georgia"/>
              </a:rPr>
              <a:t>growth</a:t>
            </a:r>
            <a:r>
              <a:rPr sz="500" spc="30" dirty="0">
                <a:latin typeface="Georgia"/>
                <a:cs typeface="Georgia"/>
              </a:rPr>
              <a:t> </a:t>
            </a:r>
            <a:r>
              <a:rPr sz="500" spc="10" dirty="0">
                <a:latin typeface="Georgia"/>
                <a:cs typeface="Georgia"/>
              </a:rPr>
              <a:t>opportunities</a:t>
            </a:r>
            <a:r>
              <a:rPr sz="500" spc="30" dirty="0">
                <a:latin typeface="Georgia"/>
                <a:cs typeface="Georgia"/>
              </a:rPr>
              <a:t> </a:t>
            </a:r>
            <a:r>
              <a:rPr sz="500" spc="10" dirty="0">
                <a:latin typeface="Georgia"/>
                <a:cs typeface="Georgia"/>
              </a:rPr>
              <a:t>and</a:t>
            </a:r>
            <a:r>
              <a:rPr sz="500" spc="30" dirty="0">
                <a:latin typeface="Georgia"/>
                <a:cs typeface="Georgia"/>
              </a:rPr>
              <a:t> </a:t>
            </a:r>
            <a:r>
              <a:rPr sz="500" spc="10" dirty="0">
                <a:latin typeface="Georgia"/>
                <a:cs typeface="Georgia"/>
              </a:rPr>
              <a:t>profit</a:t>
            </a:r>
            <a:r>
              <a:rPr sz="500" spc="3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risks.</a:t>
            </a:r>
            <a:endParaRPr sz="500" dirty="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28925" cy="318135"/>
          </a:xfrm>
          <a:custGeom>
            <a:avLst/>
            <a:gdLst/>
            <a:ahLst/>
            <a:cxnLst/>
            <a:rect l="l" t="t" r="r" b="b"/>
            <a:pathLst>
              <a:path w="2828925" h="318135">
                <a:moveTo>
                  <a:pt x="2828925" y="318063"/>
                </a:moveTo>
                <a:lnTo>
                  <a:pt x="0" y="318063"/>
                </a:lnTo>
                <a:lnTo>
                  <a:pt x="0" y="0"/>
                </a:lnTo>
                <a:lnTo>
                  <a:pt x="2828925" y="0"/>
                </a:lnTo>
                <a:lnTo>
                  <a:pt x="2828925" y="318063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50" dirty="0"/>
              <a:t>Dataset</a:t>
            </a:r>
            <a:r>
              <a:rPr sz="1250" spc="45" dirty="0"/>
              <a:t> </a:t>
            </a:r>
            <a:r>
              <a:rPr sz="1250" spc="-10" dirty="0"/>
              <a:t>Description</a:t>
            </a:r>
            <a:endParaRPr sz="1250"/>
          </a:p>
        </p:txBody>
      </p:sp>
      <p:sp>
        <p:nvSpPr>
          <p:cNvPr id="4" name="object 4"/>
          <p:cNvSpPr/>
          <p:nvPr/>
        </p:nvSpPr>
        <p:spPr>
          <a:xfrm>
            <a:off x="171959" y="522562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15530" y="24340"/>
                </a:moveTo>
                <a:lnTo>
                  <a:pt x="8809" y="24340"/>
                </a:lnTo>
                <a:lnTo>
                  <a:pt x="5940" y="23151"/>
                </a:lnTo>
                <a:lnTo>
                  <a:pt x="1188" y="18399"/>
                </a:lnTo>
                <a:lnTo>
                  <a:pt x="0" y="15530"/>
                </a:lnTo>
                <a:lnTo>
                  <a:pt x="0" y="8809"/>
                </a:lnTo>
                <a:lnTo>
                  <a:pt x="1188" y="5940"/>
                </a:lnTo>
                <a:lnTo>
                  <a:pt x="5940" y="1188"/>
                </a:lnTo>
                <a:lnTo>
                  <a:pt x="8809" y="0"/>
                </a:lnTo>
                <a:lnTo>
                  <a:pt x="15530" y="0"/>
                </a:lnTo>
                <a:lnTo>
                  <a:pt x="18399" y="1188"/>
                </a:lnTo>
                <a:lnTo>
                  <a:pt x="23151" y="5940"/>
                </a:lnTo>
                <a:lnTo>
                  <a:pt x="24340" y="8809"/>
                </a:lnTo>
                <a:lnTo>
                  <a:pt x="24340" y="12170"/>
                </a:lnTo>
                <a:lnTo>
                  <a:pt x="24340" y="15530"/>
                </a:lnTo>
                <a:lnTo>
                  <a:pt x="23151" y="18399"/>
                </a:lnTo>
                <a:lnTo>
                  <a:pt x="18399" y="23151"/>
                </a:lnTo>
                <a:lnTo>
                  <a:pt x="15530" y="24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193" y="656432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5"/>
                </a:moveTo>
                <a:lnTo>
                  <a:pt x="6607" y="18255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8"/>
                </a:lnTo>
                <a:lnTo>
                  <a:pt x="0" y="6607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7"/>
                </a:lnTo>
                <a:lnTo>
                  <a:pt x="18255" y="9127"/>
                </a:lnTo>
                <a:lnTo>
                  <a:pt x="18255" y="11648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7193" y="753792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5"/>
                </a:moveTo>
                <a:lnTo>
                  <a:pt x="6607" y="18255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8"/>
                </a:lnTo>
                <a:lnTo>
                  <a:pt x="0" y="6607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7"/>
                </a:lnTo>
                <a:lnTo>
                  <a:pt x="18255" y="9127"/>
                </a:lnTo>
                <a:lnTo>
                  <a:pt x="18255" y="11648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193" y="851152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4"/>
                </a:moveTo>
                <a:lnTo>
                  <a:pt x="6607" y="18254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7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7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193" y="948513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5"/>
                </a:moveTo>
                <a:lnTo>
                  <a:pt x="6607" y="18255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7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7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7193" y="1045873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4"/>
                </a:moveTo>
                <a:lnTo>
                  <a:pt x="6607" y="18254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6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6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7193" y="1143233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4"/>
                </a:moveTo>
                <a:lnTo>
                  <a:pt x="6607" y="18254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6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6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193" y="1240593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4"/>
                </a:moveTo>
                <a:lnTo>
                  <a:pt x="6607" y="18254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7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7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193" y="1337954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5">
                <a:moveTo>
                  <a:pt x="11648" y="18255"/>
                </a:moveTo>
                <a:lnTo>
                  <a:pt x="6607" y="18255"/>
                </a:lnTo>
                <a:lnTo>
                  <a:pt x="4455" y="17363"/>
                </a:lnTo>
                <a:lnTo>
                  <a:pt x="891" y="13799"/>
                </a:lnTo>
                <a:lnTo>
                  <a:pt x="0" y="11647"/>
                </a:lnTo>
                <a:lnTo>
                  <a:pt x="0" y="6606"/>
                </a:lnTo>
                <a:lnTo>
                  <a:pt x="891" y="4455"/>
                </a:lnTo>
                <a:lnTo>
                  <a:pt x="4455" y="891"/>
                </a:lnTo>
                <a:lnTo>
                  <a:pt x="6607" y="0"/>
                </a:lnTo>
                <a:lnTo>
                  <a:pt x="11648" y="0"/>
                </a:lnTo>
                <a:lnTo>
                  <a:pt x="13799" y="891"/>
                </a:lnTo>
                <a:lnTo>
                  <a:pt x="17363" y="4455"/>
                </a:lnTo>
                <a:lnTo>
                  <a:pt x="18255" y="6606"/>
                </a:lnTo>
                <a:lnTo>
                  <a:pt x="18255" y="9127"/>
                </a:lnTo>
                <a:lnTo>
                  <a:pt x="18255" y="11647"/>
                </a:lnTo>
                <a:lnTo>
                  <a:pt x="17363" y="13799"/>
                </a:lnTo>
                <a:lnTo>
                  <a:pt x="13799" y="17363"/>
                </a:lnTo>
                <a:lnTo>
                  <a:pt x="11648" y="1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5976" y="396227"/>
            <a:ext cx="1748789" cy="9937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430"/>
              </a:spcBef>
            </a:pP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Dataset:</a:t>
            </a:r>
            <a:r>
              <a:rPr sz="85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Superstore</a:t>
            </a:r>
            <a:r>
              <a:rPr sz="850" u="sng" spc="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Retail</a:t>
            </a:r>
            <a:r>
              <a:rPr sz="85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Dataset</a:t>
            </a:r>
            <a:endParaRPr sz="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550" dirty="0">
                <a:latin typeface="Georgia"/>
                <a:cs typeface="Georgia"/>
              </a:rPr>
              <a:t>Data</a:t>
            </a:r>
            <a:r>
              <a:rPr sz="550" spc="5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Contains</a:t>
            </a:r>
            <a:endParaRPr sz="550">
              <a:latin typeface="Georgia"/>
              <a:cs typeface="Georgia"/>
            </a:endParaRPr>
          </a:p>
          <a:p>
            <a:pPr marL="12700" marR="632460">
              <a:lnSpc>
                <a:spcPct val="116199"/>
              </a:lnSpc>
            </a:pPr>
            <a:r>
              <a:rPr sz="550" spc="20" dirty="0">
                <a:latin typeface="Georgia"/>
                <a:cs typeface="Georgia"/>
              </a:rPr>
              <a:t>Data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Category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Example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Fields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Orders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Order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spc="-25" dirty="0">
                <a:latin typeface="Georgia"/>
                <a:cs typeface="Georgia"/>
              </a:rPr>
              <a:t>ID,</a:t>
            </a:r>
            <a:r>
              <a:rPr sz="550" spc="7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Order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spc="-20" dirty="0">
                <a:latin typeface="Georgia"/>
                <a:cs typeface="Georgia"/>
              </a:rPr>
              <a:t>Date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Products</a:t>
            </a:r>
            <a:r>
              <a:rPr sz="550" spc="6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Category,</a:t>
            </a:r>
            <a:r>
              <a:rPr sz="550" spc="6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Sub-</a:t>
            </a:r>
            <a:r>
              <a:rPr sz="550" spc="-10" dirty="0">
                <a:latin typeface="Georgia"/>
                <a:cs typeface="Georgia"/>
              </a:rPr>
              <a:t>Category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Customers</a:t>
            </a:r>
            <a:r>
              <a:rPr sz="550" spc="4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Segment</a:t>
            </a:r>
            <a:endParaRPr sz="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latin typeface="Georgia"/>
                <a:cs typeface="Georgia"/>
              </a:rPr>
              <a:t>Location</a:t>
            </a:r>
            <a:r>
              <a:rPr sz="550" spc="2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Region,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State</a:t>
            </a:r>
            <a:endParaRPr sz="550">
              <a:latin typeface="Georgia"/>
              <a:cs typeface="Georgia"/>
            </a:endParaRPr>
          </a:p>
          <a:p>
            <a:pPr marL="12700" marR="266700">
              <a:lnSpc>
                <a:spcPct val="116199"/>
              </a:lnSpc>
            </a:pPr>
            <a:r>
              <a:rPr sz="550" dirty="0">
                <a:latin typeface="Georgia"/>
                <a:cs typeface="Georgia"/>
              </a:rPr>
              <a:t>Sales</a:t>
            </a:r>
            <a:r>
              <a:rPr sz="550" spc="4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Metrics</a:t>
            </a:r>
            <a:r>
              <a:rPr sz="550" spc="4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Sales,</a:t>
            </a:r>
            <a:r>
              <a:rPr sz="550" spc="4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Profit,</a:t>
            </a:r>
            <a:r>
              <a:rPr sz="550" spc="4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Quantity,</a:t>
            </a:r>
            <a:r>
              <a:rPr sz="550" spc="4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Discount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Dataset</a:t>
            </a:r>
            <a:r>
              <a:rPr sz="550" spc="55" dirty="0">
                <a:latin typeface="Georgia"/>
                <a:cs typeface="Georgia"/>
              </a:rPr>
              <a:t> </a:t>
            </a:r>
            <a:r>
              <a:rPr sz="550" spc="-20" dirty="0">
                <a:latin typeface="Georgia"/>
                <a:cs typeface="Georgia"/>
              </a:rPr>
              <a:t>Size</a:t>
            </a:r>
            <a:endParaRPr sz="5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24599" y="51508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09">
                <a:moveTo>
                  <a:pt x="16421" y="28996"/>
                </a:moveTo>
                <a:lnTo>
                  <a:pt x="12575" y="28996"/>
                </a:lnTo>
                <a:lnTo>
                  <a:pt x="10726" y="28628"/>
                </a:lnTo>
                <a:lnTo>
                  <a:pt x="0" y="16420"/>
                </a:lnTo>
                <a:lnTo>
                  <a:pt x="0" y="12575"/>
                </a:lnTo>
                <a:lnTo>
                  <a:pt x="12575" y="0"/>
                </a:lnTo>
                <a:lnTo>
                  <a:pt x="16421" y="0"/>
                </a:lnTo>
                <a:lnTo>
                  <a:pt x="28996" y="14498"/>
                </a:lnTo>
                <a:lnTo>
                  <a:pt x="28996" y="16420"/>
                </a:lnTo>
                <a:lnTo>
                  <a:pt x="16421" y="2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9803" y="636869"/>
            <a:ext cx="17780" cy="17780"/>
          </a:xfrm>
          <a:custGeom>
            <a:avLst/>
            <a:gdLst/>
            <a:ahLst/>
            <a:cxnLst/>
            <a:rect l="l" t="t" r="r" b="b"/>
            <a:pathLst>
              <a:path w="17780" h="17779">
                <a:moveTo>
                  <a:pt x="11101" y="17398"/>
                </a:moveTo>
                <a:lnTo>
                  <a:pt x="6296" y="17398"/>
                </a:lnTo>
                <a:lnTo>
                  <a:pt x="4246" y="16548"/>
                </a:lnTo>
                <a:lnTo>
                  <a:pt x="849" y="13151"/>
                </a:lnTo>
                <a:lnTo>
                  <a:pt x="0" y="11101"/>
                </a:lnTo>
                <a:lnTo>
                  <a:pt x="0" y="6296"/>
                </a:lnTo>
                <a:lnTo>
                  <a:pt x="849" y="4246"/>
                </a:lnTo>
                <a:lnTo>
                  <a:pt x="4246" y="849"/>
                </a:lnTo>
                <a:lnTo>
                  <a:pt x="6296" y="0"/>
                </a:lnTo>
                <a:lnTo>
                  <a:pt x="11101" y="0"/>
                </a:lnTo>
                <a:lnTo>
                  <a:pt x="13151" y="849"/>
                </a:lnTo>
                <a:lnTo>
                  <a:pt x="16548" y="4246"/>
                </a:lnTo>
                <a:lnTo>
                  <a:pt x="17398" y="6296"/>
                </a:lnTo>
                <a:lnTo>
                  <a:pt x="17398" y="8699"/>
                </a:lnTo>
                <a:lnTo>
                  <a:pt x="17398" y="11101"/>
                </a:lnTo>
                <a:lnTo>
                  <a:pt x="16548" y="13151"/>
                </a:lnTo>
                <a:lnTo>
                  <a:pt x="13151" y="16548"/>
                </a:lnTo>
                <a:lnTo>
                  <a:pt x="11101" y="1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89803" y="729659"/>
            <a:ext cx="17780" cy="17780"/>
          </a:xfrm>
          <a:custGeom>
            <a:avLst/>
            <a:gdLst/>
            <a:ahLst/>
            <a:cxnLst/>
            <a:rect l="l" t="t" r="r" b="b"/>
            <a:pathLst>
              <a:path w="17780" h="17779">
                <a:moveTo>
                  <a:pt x="11101" y="17398"/>
                </a:moveTo>
                <a:lnTo>
                  <a:pt x="6296" y="17398"/>
                </a:lnTo>
                <a:lnTo>
                  <a:pt x="4246" y="16548"/>
                </a:lnTo>
                <a:lnTo>
                  <a:pt x="849" y="13151"/>
                </a:lnTo>
                <a:lnTo>
                  <a:pt x="0" y="11101"/>
                </a:lnTo>
                <a:lnTo>
                  <a:pt x="0" y="6296"/>
                </a:lnTo>
                <a:lnTo>
                  <a:pt x="849" y="4246"/>
                </a:lnTo>
                <a:lnTo>
                  <a:pt x="4246" y="849"/>
                </a:lnTo>
                <a:lnTo>
                  <a:pt x="6296" y="0"/>
                </a:lnTo>
                <a:lnTo>
                  <a:pt x="11101" y="0"/>
                </a:lnTo>
                <a:lnTo>
                  <a:pt x="13151" y="849"/>
                </a:lnTo>
                <a:lnTo>
                  <a:pt x="16548" y="4246"/>
                </a:lnTo>
                <a:lnTo>
                  <a:pt x="17398" y="6296"/>
                </a:lnTo>
                <a:lnTo>
                  <a:pt x="17398" y="8699"/>
                </a:lnTo>
                <a:lnTo>
                  <a:pt x="17398" y="11101"/>
                </a:lnTo>
                <a:lnTo>
                  <a:pt x="16548" y="13151"/>
                </a:lnTo>
                <a:lnTo>
                  <a:pt x="13151" y="16548"/>
                </a:lnTo>
                <a:lnTo>
                  <a:pt x="11101" y="1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89803" y="822449"/>
            <a:ext cx="17780" cy="17780"/>
          </a:xfrm>
          <a:custGeom>
            <a:avLst/>
            <a:gdLst/>
            <a:ahLst/>
            <a:cxnLst/>
            <a:rect l="l" t="t" r="r" b="b"/>
            <a:pathLst>
              <a:path w="17780" h="17780">
                <a:moveTo>
                  <a:pt x="11101" y="17398"/>
                </a:moveTo>
                <a:lnTo>
                  <a:pt x="6296" y="17398"/>
                </a:lnTo>
                <a:lnTo>
                  <a:pt x="4246" y="16548"/>
                </a:lnTo>
                <a:lnTo>
                  <a:pt x="849" y="13151"/>
                </a:lnTo>
                <a:lnTo>
                  <a:pt x="0" y="11101"/>
                </a:lnTo>
                <a:lnTo>
                  <a:pt x="0" y="6296"/>
                </a:lnTo>
                <a:lnTo>
                  <a:pt x="849" y="4246"/>
                </a:lnTo>
                <a:lnTo>
                  <a:pt x="4246" y="849"/>
                </a:lnTo>
                <a:lnTo>
                  <a:pt x="6296" y="0"/>
                </a:lnTo>
                <a:lnTo>
                  <a:pt x="11101" y="0"/>
                </a:lnTo>
                <a:lnTo>
                  <a:pt x="13151" y="849"/>
                </a:lnTo>
                <a:lnTo>
                  <a:pt x="16548" y="4246"/>
                </a:lnTo>
                <a:lnTo>
                  <a:pt x="17398" y="6296"/>
                </a:lnTo>
                <a:lnTo>
                  <a:pt x="17398" y="8699"/>
                </a:lnTo>
                <a:lnTo>
                  <a:pt x="17398" y="11101"/>
                </a:lnTo>
                <a:lnTo>
                  <a:pt x="16548" y="13151"/>
                </a:lnTo>
                <a:lnTo>
                  <a:pt x="13151" y="16548"/>
                </a:lnTo>
                <a:lnTo>
                  <a:pt x="11101" y="1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89803" y="915238"/>
            <a:ext cx="17780" cy="17780"/>
          </a:xfrm>
          <a:custGeom>
            <a:avLst/>
            <a:gdLst/>
            <a:ahLst/>
            <a:cxnLst/>
            <a:rect l="l" t="t" r="r" b="b"/>
            <a:pathLst>
              <a:path w="17780" h="17780">
                <a:moveTo>
                  <a:pt x="11101" y="17398"/>
                </a:moveTo>
                <a:lnTo>
                  <a:pt x="6296" y="17398"/>
                </a:lnTo>
                <a:lnTo>
                  <a:pt x="4246" y="16548"/>
                </a:lnTo>
                <a:lnTo>
                  <a:pt x="849" y="13151"/>
                </a:lnTo>
                <a:lnTo>
                  <a:pt x="0" y="11101"/>
                </a:lnTo>
                <a:lnTo>
                  <a:pt x="0" y="6296"/>
                </a:lnTo>
                <a:lnTo>
                  <a:pt x="849" y="4246"/>
                </a:lnTo>
                <a:lnTo>
                  <a:pt x="4246" y="849"/>
                </a:lnTo>
                <a:lnTo>
                  <a:pt x="6296" y="0"/>
                </a:lnTo>
                <a:lnTo>
                  <a:pt x="11101" y="0"/>
                </a:lnTo>
                <a:lnTo>
                  <a:pt x="13151" y="849"/>
                </a:lnTo>
                <a:lnTo>
                  <a:pt x="16548" y="4246"/>
                </a:lnTo>
                <a:lnTo>
                  <a:pt x="17398" y="6296"/>
                </a:lnTo>
                <a:lnTo>
                  <a:pt x="17398" y="8699"/>
                </a:lnTo>
                <a:lnTo>
                  <a:pt x="17398" y="11101"/>
                </a:lnTo>
                <a:lnTo>
                  <a:pt x="16548" y="13151"/>
                </a:lnTo>
                <a:lnTo>
                  <a:pt x="13151" y="16548"/>
                </a:lnTo>
                <a:lnTo>
                  <a:pt x="11101" y="1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54760" y="423407"/>
            <a:ext cx="644525" cy="5416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290"/>
              </a:spcBef>
            </a:pPr>
            <a:r>
              <a:rPr sz="7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Example:</a:t>
            </a:r>
            <a:endParaRPr sz="750">
              <a:latin typeface="Georgia"/>
              <a:cs typeface="Georgia"/>
            </a:endParaRPr>
          </a:p>
          <a:p>
            <a:pPr marL="12700" marR="5080">
              <a:lnSpc>
                <a:spcPct val="110700"/>
              </a:lnSpc>
              <a:spcBef>
                <a:spcPts val="50"/>
              </a:spcBef>
            </a:pPr>
            <a:r>
              <a:rPr sz="550" spc="-10" dirty="0">
                <a:latin typeface="Georgia"/>
                <a:cs typeface="Georgia"/>
              </a:rPr>
              <a:t>~10,000 orders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3product</a:t>
            </a:r>
            <a:r>
              <a:rPr sz="550" spc="-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categories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spc="-65" dirty="0">
                <a:latin typeface="Georgia"/>
                <a:cs typeface="Georgia"/>
              </a:rPr>
              <a:t>17</a:t>
            </a:r>
            <a:r>
              <a:rPr sz="550" spc="-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sub-</a:t>
            </a:r>
            <a:r>
              <a:rPr sz="550" spc="-10" dirty="0">
                <a:latin typeface="Georgia"/>
                <a:cs typeface="Georgia"/>
              </a:rPr>
              <a:t>categories</a:t>
            </a:r>
            <a:endParaRPr sz="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50" spc="-40" dirty="0">
                <a:latin typeface="Georgia"/>
                <a:cs typeface="Georgia"/>
              </a:rPr>
              <a:t>4</a:t>
            </a:r>
            <a:r>
              <a:rPr sz="550" spc="-1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regions</a:t>
            </a:r>
            <a:endParaRPr sz="55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4052" y="1517996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4" h="31115">
                <a:moveTo>
                  <a:pt x="17402" y="30730"/>
                </a:moveTo>
                <a:lnTo>
                  <a:pt x="13327" y="30730"/>
                </a:lnTo>
                <a:lnTo>
                  <a:pt x="11367" y="30340"/>
                </a:lnTo>
                <a:lnTo>
                  <a:pt x="0" y="17402"/>
                </a:lnTo>
                <a:lnTo>
                  <a:pt x="0" y="13327"/>
                </a:lnTo>
                <a:lnTo>
                  <a:pt x="13327" y="0"/>
                </a:lnTo>
                <a:lnTo>
                  <a:pt x="17402" y="0"/>
                </a:lnTo>
                <a:lnTo>
                  <a:pt x="30730" y="15365"/>
                </a:lnTo>
                <a:lnTo>
                  <a:pt x="30730" y="17402"/>
                </a:lnTo>
                <a:lnTo>
                  <a:pt x="17402" y="30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3321" y="1663966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706" y="23047"/>
                </a:moveTo>
                <a:lnTo>
                  <a:pt x="8341" y="23047"/>
                </a:lnTo>
                <a:lnTo>
                  <a:pt x="5625" y="21922"/>
                </a:lnTo>
                <a:lnTo>
                  <a:pt x="1125" y="17422"/>
                </a:lnTo>
                <a:lnTo>
                  <a:pt x="0" y="14706"/>
                </a:lnTo>
                <a:lnTo>
                  <a:pt x="0" y="8341"/>
                </a:lnTo>
                <a:lnTo>
                  <a:pt x="1125" y="5625"/>
                </a:lnTo>
                <a:lnTo>
                  <a:pt x="5625" y="1125"/>
                </a:lnTo>
                <a:lnTo>
                  <a:pt x="8341" y="0"/>
                </a:lnTo>
                <a:lnTo>
                  <a:pt x="14706" y="0"/>
                </a:lnTo>
                <a:lnTo>
                  <a:pt x="17422" y="1125"/>
                </a:lnTo>
                <a:lnTo>
                  <a:pt x="21922" y="5625"/>
                </a:lnTo>
                <a:lnTo>
                  <a:pt x="23047" y="8341"/>
                </a:lnTo>
                <a:lnTo>
                  <a:pt x="23048" y="11524"/>
                </a:lnTo>
                <a:lnTo>
                  <a:pt x="23047" y="14706"/>
                </a:lnTo>
                <a:lnTo>
                  <a:pt x="21922" y="17422"/>
                </a:lnTo>
                <a:lnTo>
                  <a:pt x="17422" y="21922"/>
                </a:lnTo>
                <a:lnTo>
                  <a:pt x="14706" y="23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3497" y="1403845"/>
            <a:ext cx="2006600" cy="44513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350"/>
              </a:spcBef>
            </a:pPr>
            <a:r>
              <a:rPr sz="8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Purpose:</a:t>
            </a:r>
            <a:endParaRPr sz="850">
              <a:latin typeface="Georgia"/>
              <a:cs typeface="Georgia"/>
            </a:endParaRPr>
          </a:p>
          <a:p>
            <a:pPr marL="12700" marR="5080">
              <a:lnSpc>
                <a:spcPct val="115199"/>
              </a:lnSpc>
              <a:spcBef>
                <a:spcPts val="90"/>
              </a:spcBef>
            </a:pPr>
            <a:r>
              <a:rPr sz="700" dirty="0">
                <a:latin typeface="Georgia"/>
                <a:cs typeface="Georgia"/>
              </a:rPr>
              <a:t>Understand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sales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performance,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profitability,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and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market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behavior.</a:t>
            </a:r>
            <a:endParaRPr sz="70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28947" cy="2000813"/>
            <a:chOff x="0" y="0"/>
            <a:chExt cx="2828947" cy="2000813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28925" cy="318135"/>
            </a:xfrm>
            <a:custGeom>
              <a:avLst/>
              <a:gdLst/>
              <a:ahLst/>
              <a:cxnLst/>
              <a:rect l="l" t="t" r="r" b="b"/>
              <a:pathLst>
                <a:path w="2828925" h="318135">
                  <a:moveTo>
                    <a:pt x="2828925" y="318063"/>
                  </a:moveTo>
                  <a:lnTo>
                    <a:pt x="0" y="318063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318063"/>
                  </a:lnTo>
                  <a:close/>
                </a:path>
              </a:pathLst>
            </a:custGeom>
            <a:solidFill>
              <a:srgbClr val="5E5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722" y="318063"/>
              <a:ext cx="1292225" cy="1682750"/>
            </a:xfrm>
            <a:custGeom>
              <a:avLst/>
              <a:gdLst/>
              <a:ahLst/>
              <a:cxnLst/>
              <a:rect l="l" t="t" r="r" b="b"/>
              <a:pathLst>
                <a:path w="1292225" h="1682750">
                  <a:moveTo>
                    <a:pt x="1292202" y="1682186"/>
                  </a:moveTo>
                  <a:lnTo>
                    <a:pt x="0" y="1682186"/>
                  </a:lnTo>
                  <a:lnTo>
                    <a:pt x="0" y="0"/>
                  </a:lnTo>
                  <a:lnTo>
                    <a:pt x="1292202" y="0"/>
                  </a:lnTo>
                  <a:lnTo>
                    <a:pt x="1292202" y="1682186"/>
                  </a:lnTo>
                  <a:close/>
                </a:path>
              </a:pathLst>
            </a:custGeom>
            <a:solidFill>
              <a:srgbClr val="5E5273">
                <a:alpha val="5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4650" y="695325"/>
              <a:ext cx="1124702" cy="69474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sz="1200" dirty="0"/>
              <a:t>Data</a:t>
            </a:r>
            <a:r>
              <a:rPr sz="1200" spc="70" dirty="0"/>
              <a:t> </a:t>
            </a:r>
            <a:r>
              <a:rPr sz="1200" dirty="0"/>
              <a:t>Cleaning</a:t>
            </a:r>
            <a:r>
              <a:rPr sz="1200" spc="70" dirty="0"/>
              <a:t> </a:t>
            </a:r>
            <a:r>
              <a:rPr sz="1200" spc="200" dirty="0"/>
              <a:t>&amp;</a:t>
            </a:r>
            <a:r>
              <a:rPr sz="1200" spc="70" dirty="0"/>
              <a:t> </a:t>
            </a:r>
            <a:r>
              <a:rPr sz="1200" spc="-10" dirty="0"/>
              <a:t>Preparation</a:t>
            </a:r>
            <a:endParaRPr sz="1200"/>
          </a:p>
        </p:txBody>
      </p:sp>
      <p:sp>
        <p:nvSpPr>
          <p:cNvPr id="7" name="object 7"/>
          <p:cNvSpPr/>
          <p:nvPr/>
        </p:nvSpPr>
        <p:spPr>
          <a:xfrm>
            <a:off x="137490" y="1041006"/>
            <a:ext cx="19685" cy="756285"/>
          </a:xfrm>
          <a:custGeom>
            <a:avLst/>
            <a:gdLst/>
            <a:ahLst/>
            <a:cxnLst/>
            <a:rect l="l" t="t" r="r" b="b"/>
            <a:pathLst>
              <a:path w="19685" h="756285">
                <a:moveTo>
                  <a:pt x="16230" y="611886"/>
                </a:moveTo>
                <a:lnTo>
                  <a:pt x="15443" y="609981"/>
                </a:lnTo>
                <a:lnTo>
                  <a:pt x="12268" y="606806"/>
                </a:lnTo>
                <a:lnTo>
                  <a:pt x="10363" y="606018"/>
                </a:lnTo>
                <a:lnTo>
                  <a:pt x="5880" y="606018"/>
                </a:lnTo>
                <a:lnTo>
                  <a:pt x="3962" y="606806"/>
                </a:lnTo>
                <a:lnTo>
                  <a:pt x="787" y="609981"/>
                </a:lnTo>
                <a:lnTo>
                  <a:pt x="0" y="611886"/>
                </a:lnTo>
                <a:lnTo>
                  <a:pt x="0" y="616369"/>
                </a:lnTo>
                <a:lnTo>
                  <a:pt x="787" y="618286"/>
                </a:lnTo>
                <a:lnTo>
                  <a:pt x="3962" y="621461"/>
                </a:lnTo>
                <a:lnTo>
                  <a:pt x="5880" y="622249"/>
                </a:lnTo>
                <a:lnTo>
                  <a:pt x="10363" y="622249"/>
                </a:lnTo>
                <a:lnTo>
                  <a:pt x="12268" y="621461"/>
                </a:lnTo>
                <a:lnTo>
                  <a:pt x="15443" y="618286"/>
                </a:lnTo>
                <a:lnTo>
                  <a:pt x="16230" y="616369"/>
                </a:lnTo>
                <a:lnTo>
                  <a:pt x="16230" y="614133"/>
                </a:lnTo>
                <a:lnTo>
                  <a:pt x="16230" y="611886"/>
                </a:lnTo>
                <a:close/>
              </a:path>
              <a:path w="19685" h="756285">
                <a:moveTo>
                  <a:pt x="16230" y="525322"/>
                </a:moveTo>
                <a:lnTo>
                  <a:pt x="15443" y="523405"/>
                </a:lnTo>
                <a:lnTo>
                  <a:pt x="12268" y="520230"/>
                </a:lnTo>
                <a:lnTo>
                  <a:pt x="10363" y="519442"/>
                </a:lnTo>
                <a:lnTo>
                  <a:pt x="5880" y="519442"/>
                </a:lnTo>
                <a:lnTo>
                  <a:pt x="3962" y="520230"/>
                </a:lnTo>
                <a:lnTo>
                  <a:pt x="787" y="523405"/>
                </a:lnTo>
                <a:lnTo>
                  <a:pt x="0" y="525322"/>
                </a:lnTo>
                <a:lnTo>
                  <a:pt x="0" y="529805"/>
                </a:lnTo>
                <a:lnTo>
                  <a:pt x="787" y="531710"/>
                </a:lnTo>
                <a:lnTo>
                  <a:pt x="3962" y="534885"/>
                </a:lnTo>
                <a:lnTo>
                  <a:pt x="5880" y="535673"/>
                </a:lnTo>
                <a:lnTo>
                  <a:pt x="10363" y="535673"/>
                </a:lnTo>
                <a:lnTo>
                  <a:pt x="12268" y="534885"/>
                </a:lnTo>
                <a:lnTo>
                  <a:pt x="15443" y="531710"/>
                </a:lnTo>
                <a:lnTo>
                  <a:pt x="16230" y="529805"/>
                </a:lnTo>
                <a:lnTo>
                  <a:pt x="16230" y="527558"/>
                </a:lnTo>
                <a:lnTo>
                  <a:pt x="16230" y="525322"/>
                </a:lnTo>
                <a:close/>
              </a:path>
              <a:path w="19685" h="756285">
                <a:moveTo>
                  <a:pt x="16230" y="438746"/>
                </a:moveTo>
                <a:lnTo>
                  <a:pt x="15443" y="436829"/>
                </a:lnTo>
                <a:lnTo>
                  <a:pt x="12268" y="433654"/>
                </a:lnTo>
                <a:lnTo>
                  <a:pt x="10363" y="432866"/>
                </a:lnTo>
                <a:lnTo>
                  <a:pt x="5880" y="432866"/>
                </a:lnTo>
                <a:lnTo>
                  <a:pt x="3962" y="433654"/>
                </a:lnTo>
                <a:lnTo>
                  <a:pt x="787" y="436829"/>
                </a:lnTo>
                <a:lnTo>
                  <a:pt x="0" y="438746"/>
                </a:lnTo>
                <a:lnTo>
                  <a:pt x="0" y="443230"/>
                </a:lnTo>
                <a:lnTo>
                  <a:pt x="787" y="445135"/>
                </a:lnTo>
                <a:lnTo>
                  <a:pt x="3962" y="448310"/>
                </a:lnTo>
                <a:lnTo>
                  <a:pt x="5880" y="449097"/>
                </a:lnTo>
                <a:lnTo>
                  <a:pt x="10363" y="449097"/>
                </a:lnTo>
                <a:lnTo>
                  <a:pt x="12268" y="448310"/>
                </a:lnTo>
                <a:lnTo>
                  <a:pt x="15443" y="445135"/>
                </a:lnTo>
                <a:lnTo>
                  <a:pt x="16230" y="443230"/>
                </a:lnTo>
                <a:lnTo>
                  <a:pt x="16230" y="440982"/>
                </a:lnTo>
                <a:lnTo>
                  <a:pt x="16230" y="438746"/>
                </a:lnTo>
                <a:close/>
              </a:path>
              <a:path w="19685" h="756285">
                <a:moveTo>
                  <a:pt x="16230" y="352171"/>
                </a:moveTo>
                <a:lnTo>
                  <a:pt x="15443" y="350253"/>
                </a:lnTo>
                <a:lnTo>
                  <a:pt x="12268" y="347091"/>
                </a:lnTo>
                <a:lnTo>
                  <a:pt x="10363" y="346290"/>
                </a:lnTo>
                <a:lnTo>
                  <a:pt x="5880" y="346290"/>
                </a:lnTo>
                <a:lnTo>
                  <a:pt x="3962" y="347091"/>
                </a:lnTo>
                <a:lnTo>
                  <a:pt x="787" y="350253"/>
                </a:lnTo>
                <a:lnTo>
                  <a:pt x="0" y="352171"/>
                </a:lnTo>
                <a:lnTo>
                  <a:pt x="0" y="356654"/>
                </a:lnTo>
                <a:lnTo>
                  <a:pt x="787" y="358559"/>
                </a:lnTo>
                <a:lnTo>
                  <a:pt x="3962" y="361734"/>
                </a:lnTo>
                <a:lnTo>
                  <a:pt x="5880" y="362521"/>
                </a:lnTo>
                <a:lnTo>
                  <a:pt x="10363" y="362521"/>
                </a:lnTo>
                <a:lnTo>
                  <a:pt x="12268" y="361734"/>
                </a:lnTo>
                <a:lnTo>
                  <a:pt x="15443" y="358559"/>
                </a:lnTo>
                <a:lnTo>
                  <a:pt x="16230" y="356654"/>
                </a:lnTo>
                <a:lnTo>
                  <a:pt x="16230" y="354406"/>
                </a:lnTo>
                <a:lnTo>
                  <a:pt x="16230" y="352171"/>
                </a:lnTo>
                <a:close/>
              </a:path>
              <a:path w="19685" h="756285">
                <a:moveTo>
                  <a:pt x="16230" y="265595"/>
                </a:moveTo>
                <a:lnTo>
                  <a:pt x="15443" y="263677"/>
                </a:lnTo>
                <a:lnTo>
                  <a:pt x="12268" y="260515"/>
                </a:lnTo>
                <a:lnTo>
                  <a:pt x="10363" y="259715"/>
                </a:lnTo>
                <a:lnTo>
                  <a:pt x="5880" y="259715"/>
                </a:lnTo>
                <a:lnTo>
                  <a:pt x="3962" y="260515"/>
                </a:lnTo>
                <a:lnTo>
                  <a:pt x="787" y="263677"/>
                </a:lnTo>
                <a:lnTo>
                  <a:pt x="0" y="265595"/>
                </a:lnTo>
                <a:lnTo>
                  <a:pt x="0" y="270078"/>
                </a:lnTo>
                <a:lnTo>
                  <a:pt x="787" y="271983"/>
                </a:lnTo>
                <a:lnTo>
                  <a:pt x="3962" y="275158"/>
                </a:lnTo>
                <a:lnTo>
                  <a:pt x="5880" y="275945"/>
                </a:lnTo>
                <a:lnTo>
                  <a:pt x="10363" y="275945"/>
                </a:lnTo>
                <a:lnTo>
                  <a:pt x="12268" y="275158"/>
                </a:lnTo>
                <a:lnTo>
                  <a:pt x="15443" y="271983"/>
                </a:lnTo>
                <a:lnTo>
                  <a:pt x="16230" y="270078"/>
                </a:lnTo>
                <a:lnTo>
                  <a:pt x="16230" y="267830"/>
                </a:lnTo>
                <a:lnTo>
                  <a:pt x="16230" y="265595"/>
                </a:lnTo>
                <a:close/>
              </a:path>
              <a:path w="19685" h="756285">
                <a:moveTo>
                  <a:pt x="16230" y="179019"/>
                </a:moveTo>
                <a:lnTo>
                  <a:pt x="15443" y="177101"/>
                </a:lnTo>
                <a:lnTo>
                  <a:pt x="12268" y="173939"/>
                </a:lnTo>
                <a:lnTo>
                  <a:pt x="10363" y="173139"/>
                </a:lnTo>
                <a:lnTo>
                  <a:pt x="5880" y="173139"/>
                </a:lnTo>
                <a:lnTo>
                  <a:pt x="3962" y="173939"/>
                </a:lnTo>
                <a:lnTo>
                  <a:pt x="787" y="177101"/>
                </a:lnTo>
                <a:lnTo>
                  <a:pt x="0" y="179019"/>
                </a:lnTo>
                <a:lnTo>
                  <a:pt x="0" y="183502"/>
                </a:lnTo>
                <a:lnTo>
                  <a:pt x="787" y="185420"/>
                </a:lnTo>
                <a:lnTo>
                  <a:pt x="3962" y="188582"/>
                </a:lnTo>
                <a:lnTo>
                  <a:pt x="5880" y="189382"/>
                </a:lnTo>
                <a:lnTo>
                  <a:pt x="10363" y="189382"/>
                </a:lnTo>
                <a:lnTo>
                  <a:pt x="12268" y="188582"/>
                </a:lnTo>
                <a:lnTo>
                  <a:pt x="15443" y="185420"/>
                </a:lnTo>
                <a:lnTo>
                  <a:pt x="16230" y="183502"/>
                </a:lnTo>
                <a:lnTo>
                  <a:pt x="16230" y="181254"/>
                </a:lnTo>
                <a:lnTo>
                  <a:pt x="16230" y="179019"/>
                </a:lnTo>
                <a:close/>
              </a:path>
              <a:path w="19685" h="756285">
                <a:moveTo>
                  <a:pt x="16230" y="92443"/>
                </a:moveTo>
                <a:lnTo>
                  <a:pt x="15443" y="90525"/>
                </a:lnTo>
                <a:lnTo>
                  <a:pt x="12268" y="87363"/>
                </a:lnTo>
                <a:lnTo>
                  <a:pt x="10363" y="86563"/>
                </a:lnTo>
                <a:lnTo>
                  <a:pt x="5880" y="86563"/>
                </a:lnTo>
                <a:lnTo>
                  <a:pt x="3962" y="87363"/>
                </a:lnTo>
                <a:lnTo>
                  <a:pt x="787" y="90525"/>
                </a:lnTo>
                <a:lnTo>
                  <a:pt x="0" y="92443"/>
                </a:lnTo>
                <a:lnTo>
                  <a:pt x="0" y="96926"/>
                </a:lnTo>
                <a:lnTo>
                  <a:pt x="787" y="98844"/>
                </a:lnTo>
                <a:lnTo>
                  <a:pt x="3962" y="102006"/>
                </a:lnTo>
                <a:lnTo>
                  <a:pt x="5880" y="102806"/>
                </a:lnTo>
                <a:lnTo>
                  <a:pt x="10363" y="102806"/>
                </a:lnTo>
                <a:lnTo>
                  <a:pt x="12268" y="102006"/>
                </a:lnTo>
                <a:lnTo>
                  <a:pt x="15443" y="98844"/>
                </a:lnTo>
                <a:lnTo>
                  <a:pt x="16230" y="96926"/>
                </a:lnTo>
                <a:lnTo>
                  <a:pt x="16230" y="94691"/>
                </a:lnTo>
                <a:lnTo>
                  <a:pt x="16230" y="92443"/>
                </a:lnTo>
                <a:close/>
              </a:path>
              <a:path w="19685" h="756285">
                <a:moveTo>
                  <a:pt x="16230" y="5867"/>
                </a:moveTo>
                <a:lnTo>
                  <a:pt x="15443" y="3962"/>
                </a:lnTo>
                <a:lnTo>
                  <a:pt x="12268" y="787"/>
                </a:lnTo>
                <a:lnTo>
                  <a:pt x="10363" y="0"/>
                </a:lnTo>
                <a:lnTo>
                  <a:pt x="5880" y="0"/>
                </a:lnTo>
                <a:lnTo>
                  <a:pt x="3962" y="787"/>
                </a:lnTo>
                <a:lnTo>
                  <a:pt x="787" y="3962"/>
                </a:lnTo>
                <a:lnTo>
                  <a:pt x="0" y="5867"/>
                </a:lnTo>
                <a:lnTo>
                  <a:pt x="0" y="10350"/>
                </a:lnTo>
                <a:lnTo>
                  <a:pt x="787" y="12268"/>
                </a:lnTo>
                <a:lnTo>
                  <a:pt x="3962" y="15430"/>
                </a:lnTo>
                <a:lnTo>
                  <a:pt x="5880" y="16230"/>
                </a:lnTo>
                <a:lnTo>
                  <a:pt x="10363" y="16230"/>
                </a:lnTo>
                <a:lnTo>
                  <a:pt x="12268" y="15430"/>
                </a:lnTo>
                <a:lnTo>
                  <a:pt x="15443" y="12268"/>
                </a:lnTo>
                <a:lnTo>
                  <a:pt x="16230" y="10350"/>
                </a:lnTo>
                <a:lnTo>
                  <a:pt x="16230" y="8115"/>
                </a:lnTo>
                <a:lnTo>
                  <a:pt x="16230" y="5867"/>
                </a:lnTo>
                <a:close/>
              </a:path>
              <a:path w="19685" h="756285">
                <a:moveTo>
                  <a:pt x="19608" y="744956"/>
                </a:moveTo>
                <a:lnTo>
                  <a:pt x="18770" y="742924"/>
                </a:lnTo>
                <a:lnTo>
                  <a:pt x="15405" y="739559"/>
                </a:lnTo>
                <a:lnTo>
                  <a:pt x="13373" y="738708"/>
                </a:lnTo>
                <a:lnTo>
                  <a:pt x="8610" y="738708"/>
                </a:lnTo>
                <a:lnTo>
                  <a:pt x="6578" y="739559"/>
                </a:lnTo>
                <a:lnTo>
                  <a:pt x="3200" y="742924"/>
                </a:lnTo>
                <a:lnTo>
                  <a:pt x="2362" y="744956"/>
                </a:lnTo>
                <a:lnTo>
                  <a:pt x="2362" y="749719"/>
                </a:lnTo>
                <a:lnTo>
                  <a:pt x="3200" y="751751"/>
                </a:lnTo>
                <a:lnTo>
                  <a:pt x="6578" y="755116"/>
                </a:lnTo>
                <a:lnTo>
                  <a:pt x="8610" y="755954"/>
                </a:lnTo>
                <a:lnTo>
                  <a:pt x="13373" y="755954"/>
                </a:lnTo>
                <a:lnTo>
                  <a:pt x="15405" y="755116"/>
                </a:lnTo>
                <a:lnTo>
                  <a:pt x="18770" y="751751"/>
                </a:lnTo>
                <a:lnTo>
                  <a:pt x="19608" y="749719"/>
                </a:lnTo>
                <a:lnTo>
                  <a:pt x="19608" y="747331"/>
                </a:lnTo>
                <a:lnTo>
                  <a:pt x="19608" y="744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748" y="327625"/>
            <a:ext cx="1941269" cy="15938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750" dirty="0">
                <a:latin typeface="Georgia"/>
                <a:cs typeface="Georgia"/>
              </a:rPr>
              <a:t>Key</a:t>
            </a:r>
            <a:r>
              <a:rPr sz="750" spc="10" dirty="0">
                <a:latin typeface="Georgia"/>
                <a:cs typeface="Georgia"/>
              </a:rPr>
              <a:t> </a:t>
            </a:r>
            <a:r>
              <a:rPr sz="750" dirty="0">
                <a:latin typeface="Georgia"/>
                <a:cs typeface="Georgia"/>
              </a:rPr>
              <a:t>steps</a:t>
            </a:r>
            <a:r>
              <a:rPr sz="750" spc="15" dirty="0">
                <a:latin typeface="Georgia"/>
                <a:cs typeface="Georgia"/>
              </a:rPr>
              <a:t> </a:t>
            </a:r>
            <a:r>
              <a:rPr sz="750" spc="-10" dirty="0">
                <a:latin typeface="Georgia"/>
                <a:cs typeface="Georgia"/>
              </a:rPr>
              <a:t>performed:</a:t>
            </a:r>
            <a:endParaRPr sz="750" dirty="0">
              <a:latin typeface="Georgia"/>
              <a:cs typeface="Georgia"/>
            </a:endParaRPr>
          </a:p>
          <a:p>
            <a:pPr marL="51435" indent="-45720">
              <a:lnSpc>
                <a:spcPct val="100000"/>
              </a:lnSpc>
              <a:spcBef>
                <a:spcPts val="120"/>
              </a:spcBef>
              <a:buChar char="*"/>
              <a:tabLst>
                <a:tab pos="51435" algn="l"/>
              </a:tabLst>
            </a:pPr>
            <a:r>
              <a:rPr sz="550" spc="-10" dirty="0">
                <a:latin typeface="Georgia"/>
                <a:cs typeface="Georgia"/>
              </a:rPr>
              <a:t>Removed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-30" dirty="0">
                <a:latin typeface="Georgia"/>
                <a:cs typeface="Georgia"/>
              </a:rPr>
              <a:t>invalid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rows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and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data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errors</a:t>
            </a:r>
            <a:endParaRPr sz="550" dirty="0">
              <a:latin typeface="Georgia"/>
              <a:cs typeface="Georgia"/>
            </a:endParaRPr>
          </a:p>
          <a:p>
            <a:pPr marL="51435" indent="-45720">
              <a:lnSpc>
                <a:spcPct val="100000"/>
              </a:lnSpc>
              <a:spcBef>
                <a:spcPts val="60"/>
              </a:spcBef>
              <a:buChar char="*"/>
              <a:tabLst>
                <a:tab pos="51435" algn="l"/>
              </a:tabLst>
            </a:pPr>
            <a:r>
              <a:rPr sz="550" spc="-10" dirty="0">
                <a:latin typeface="Georgia"/>
                <a:cs typeface="Georgia"/>
              </a:rPr>
              <a:t>Standardized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date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formats</a:t>
            </a:r>
            <a:endParaRPr sz="550" dirty="0">
              <a:latin typeface="Georgia"/>
              <a:cs typeface="Georgia"/>
            </a:endParaRPr>
          </a:p>
          <a:p>
            <a:pPr marL="51435" indent="-45720">
              <a:lnSpc>
                <a:spcPct val="100000"/>
              </a:lnSpc>
              <a:spcBef>
                <a:spcPts val="65"/>
              </a:spcBef>
              <a:buChar char="*"/>
              <a:tabLst>
                <a:tab pos="51435" algn="l"/>
              </a:tabLst>
            </a:pPr>
            <a:r>
              <a:rPr sz="550" dirty="0">
                <a:latin typeface="Georgia"/>
                <a:cs typeface="Georgia"/>
              </a:rPr>
              <a:t>Converted</a:t>
            </a:r>
            <a:r>
              <a:rPr sz="550" spc="1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numeric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columns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to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numeric</a:t>
            </a:r>
            <a:r>
              <a:rPr sz="550" spc="15" dirty="0">
                <a:latin typeface="Georgia"/>
                <a:cs typeface="Georgia"/>
              </a:rPr>
              <a:t> </a:t>
            </a:r>
            <a:r>
              <a:rPr sz="550" spc="-20" dirty="0">
                <a:latin typeface="Georgia"/>
                <a:cs typeface="Georgia"/>
              </a:rPr>
              <a:t>type</a:t>
            </a:r>
            <a:endParaRPr sz="550" dirty="0">
              <a:latin typeface="Georgia"/>
              <a:cs typeface="Georgia"/>
            </a:endParaRPr>
          </a:p>
          <a:p>
            <a:pPr marL="51435" indent="-45720">
              <a:lnSpc>
                <a:spcPct val="100000"/>
              </a:lnSpc>
              <a:spcBef>
                <a:spcPts val="65"/>
              </a:spcBef>
              <a:buChar char="*"/>
              <a:tabLst>
                <a:tab pos="51435" algn="l"/>
              </a:tabLst>
            </a:pPr>
            <a:r>
              <a:rPr sz="550" dirty="0">
                <a:latin typeface="Georgia"/>
                <a:cs typeface="Georgia"/>
              </a:rPr>
              <a:t>Created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date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hierarchy</a:t>
            </a:r>
            <a:r>
              <a:rPr sz="550" spc="-20" dirty="0">
                <a:latin typeface="Georgia"/>
                <a:cs typeface="Georgia"/>
              </a:rPr>
              <a:t>(Year,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20" dirty="0">
                <a:latin typeface="Georgia"/>
                <a:cs typeface="Georgia"/>
              </a:rPr>
              <a:t>Month,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Quarter)</a:t>
            </a:r>
            <a:endParaRPr sz="550" dirty="0">
              <a:latin typeface="Georgia"/>
              <a:cs typeface="Georgia"/>
            </a:endParaRPr>
          </a:p>
          <a:p>
            <a:pPr marL="51435" indent="-45720">
              <a:lnSpc>
                <a:spcPct val="100000"/>
              </a:lnSpc>
              <a:spcBef>
                <a:spcPts val="65"/>
              </a:spcBef>
              <a:buChar char="*"/>
              <a:tabLst>
                <a:tab pos="51435" algn="l"/>
              </a:tabLst>
            </a:pPr>
            <a:r>
              <a:rPr sz="550" spc="-30" dirty="0">
                <a:latin typeface="Georgia"/>
                <a:cs typeface="Georgia"/>
              </a:rPr>
              <a:t>Built</a:t>
            </a:r>
            <a:r>
              <a:rPr sz="550" dirty="0">
                <a:latin typeface="Georgia"/>
                <a:cs typeface="Georgia"/>
              </a:rPr>
              <a:t> a Star Schema data </a:t>
            </a:r>
            <a:r>
              <a:rPr sz="550" spc="-20" dirty="0">
                <a:latin typeface="Georgia"/>
                <a:cs typeface="Georgia"/>
              </a:rPr>
              <a:t>model</a:t>
            </a:r>
            <a:endParaRPr sz="550" dirty="0">
              <a:latin typeface="Georgia"/>
              <a:cs typeface="Georgia"/>
            </a:endParaRPr>
          </a:p>
          <a:p>
            <a:pPr marL="85725" marR="1454150">
              <a:lnSpc>
                <a:spcPct val="113599"/>
              </a:lnSpc>
              <a:spcBef>
                <a:spcPts val="350"/>
              </a:spcBef>
            </a:pPr>
            <a:r>
              <a:rPr sz="500" dirty="0">
                <a:latin typeface="Georgia"/>
                <a:cs typeface="Georgia"/>
              </a:rPr>
              <a:t>Data</a:t>
            </a:r>
            <a:r>
              <a:rPr sz="500" spc="15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Model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Fact</a:t>
            </a:r>
            <a:r>
              <a:rPr sz="500" spc="-2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Table:</a:t>
            </a:r>
            <a:endParaRPr sz="500" dirty="0">
              <a:latin typeface="Georgia"/>
              <a:cs typeface="Georgia"/>
            </a:endParaRPr>
          </a:p>
          <a:p>
            <a:pPr marL="85725" marR="1265555">
              <a:lnSpc>
                <a:spcPct val="113599"/>
              </a:lnSpc>
            </a:pPr>
            <a:r>
              <a:rPr sz="500" dirty="0">
                <a:latin typeface="Georgia"/>
                <a:cs typeface="Georgia"/>
              </a:rPr>
              <a:t>Superstore</a:t>
            </a:r>
            <a:r>
              <a:rPr sz="500" spc="7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Sales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dirty="0">
                <a:latin typeface="Georgia"/>
                <a:cs typeface="Georgia"/>
              </a:rPr>
              <a:t>Dimension</a:t>
            </a:r>
            <a:r>
              <a:rPr sz="500" spc="10" dirty="0">
                <a:latin typeface="Georgia"/>
                <a:cs typeface="Georgia"/>
              </a:rPr>
              <a:t> </a:t>
            </a:r>
            <a:r>
              <a:rPr sz="500" spc="-20" dirty="0">
                <a:latin typeface="Georgia"/>
                <a:cs typeface="Georgia"/>
              </a:rPr>
              <a:t>Tables:</a:t>
            </a:r>
            <a:endParaRPr sz="500" dirty="0">
              <a:latin typeface="Georgia"/>
              <a:cs typeface="Georgia"/>
            </a:endParaRPr>
          </a:p>
          <a:p>
            <a:pPr marL="85725" marR="1490345">
              <a:lnSpc>
                <a:spcPct val="113599"/>
              </a:lnSpc>
            </a:pPr>
            <a:r>
              <a:rPr sz="500" spc="-20" dirty="0">
                <a:latin typeface="Georgia"/>
                <a:cs typeface="Georgia"/>
              </a:rPr>
              <a:t>Date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Product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Customer</a:t>
            </a:r>
            <a:r>
              <a:rPr sz="500" spc="500" dirty="0">
                <a:latin typeface="Georgia"/>
                <a:cs typeface="Georgia"/>
              </a:rPr>
              <a:t> </a:t>
            </a:r>
            <a:r>
              <a:rPr sz="500" spc="-10" dirty="0">
                <a:latin typeface="Georgia"/>
                <a:cs typeface="Georgia"/>
              </a:rPr>
              <a:t>Location</a:t>
            </a:r>
            <a:endParaRPr sz="500" dirty="0">
              <a:latin typeface="Georgia"/>
              <a:cs typeface="Georgia"/>
            </a:endParaRPr>
          </a:p>
          <a:p>
            <a:pPr marL="92710" marR="711200">
              <a:lnSpc>
                <a:spcPct val="109700"/>
              </a:lnSpc>
              <a:spcBef>
                <a:spcPts val="340"/>
              </a:spcBef>
            </a:pPr>
            <a:r>
              <a:rPr sz="550" spc="-25" dirty="0">
                <a:latin typeface="Georgia"/>
                <a:cs typeface="Georgia"/>
              </a:rPr>
              <a:t>This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structure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improves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query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performance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and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analytical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clarity.</a:t>
            </a:r>
            <a:endParaRPr sz="55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28925" cy="318135"/>
          </a:xfrm>
          <a:custGeom>
            <a:avLst/>
            <a:gdLst/>
            <a:ahLst/>
            <a:cxnLst/>
            <a:rect l="l" t="t" r="r" b="b"/>
            <a:pathLst>
              <a:path w="2828925" h="318135">
                <a:moveTo>
                  <a:pt x="2828925" y="318063"/>
                </a:moveTo>
                <a:lnTo>
                  <a:pt x="0" y="318063"/>
                </a:lnTo>
                <a:lnTo>
                  <a:pt x="0" y="0"/>
                </a:lnTo>
                <a:lnTo>
                  <a:pt x="2828925" y="0"/>
                </a:lnTo>
                <a:lnTo>
                  <a:pt x="2828925" y="318063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1150" dirty="0"/>
              <a:t>Dashboard </a:t>
            </a:r>
            <a:r>
              <a:rPr sz="1150" spc="-10" dirty="0"/>
              <a:t>Architecture</a:t>
            </a:r>
            <a:endParaRPr sz="1150"/>
          </a:p>
        </p:txBody>
      </p:sp>
      <p:sp>
        <p:nvSpPr>
          <p:cNvPr id="4" name="object 4"/>
          <p:cNvSpPr/>
          <p:nvPr/>
        </p:nvSpPr>
        <p:spPr>
          <a:xfrm>
            <a:off x="251141" y="498338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4" h="31115">
                <a:moveTo>
                  <a:pt x="17362" y="30659"/>
                </a:moveTo>
                <a:lnTo>
                  <a:pt x="13296" y="30659"/>
                </a:lnTo>
                <a:lnTo>
                  <a:pt x="11341" y="30270"/>
                </a:lnTo>
                <a:lnTo>
                  <a:pt x="0" y="17362"/>
                </a:lnTo>
                <a:lnTo>
                  <a:pt x="0" y="13296"/>
                </a:lnTo>
                <a:lnTo>
                  <a:pt x="13296" y="0"/>
                </a:lnTo>
                <a:lnTo>
                  <a:pt x="17362" y="0"/>
                </a:lnTo>
                <a:lnTo>
                  <a:pt x="30659" y="15329"/>
                </a:lnTo>
                <a:lnTo>
                  <a:pt x="30659" y="17362"/>
                </a:lnTo>
                <a:lnTo>
                  <a:pt x="17362" y="30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817" y="820263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2817" y="942901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2817" y="1065539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2817" y="1188178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2817" y="1310816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2817" y="1433454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4">
                <a:moveTo>
                  <a:pt x="14672" y="22994"/>
                </a:moveTo>
                <a:lnTo>
                  <a:pt x="8322" y="22994"/>
                </a:lnTo>
                <a:lnTo>
                  <a:pt x="5612" y="21872"/>
                </a:lnTo>
                <a:lnTo>
                  <a:pt x="1122" y="17382"/>
                </a:lnTo>
                <a:lnTo>
                  <a:pt x="0" y="14672"/>
                </a:lnTo>
                <a:lnTo>
                  <a:pt x="0" y="8322"/>
                </a:lnTo>
                <a:lnTo>
                  <a:pt x="1122" y="5612"/>
                </a:lnTo>
                <a:lnTo>
                  <a:pt x="5612" y="1122"/>
                </a:lnTo>
                <a:lnTo>
                  <a:pt x="8322" y="0"/>
                </a:lnTo>
                <a:lnTo>
                  <a:pt x="14672" y="0"/>
                </a:lnTo>
                <a:lnTo>
                  <a:pt x="17382" y="1122"/>
                </a:lnTo>
                <a:lnTo>
                  <a:pt x="21872" y="5612"/>
                </a:lnTo>
                <a:lnTo>
                  <a:pt x="22994" y="8322"/>
                </a:lnTo>
                <a:lnTo>
                  <a:pt x="22994" y="11497"/>
                </a:lnTo>
                <a:lnTo>
                  <a:pt x="22994" y="14672"/>
                </a:lnTo>
                <a:lnTo>
                  <a:pt x="21872" y="17382"/>
                </a:lnTo>
                <a:lnTo>
                  <a:pt x="17382" y="21872"/>
                </a:lnTo>
                <a:lnTo>
                  <a:pt x="14672" y="2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2755" y="408299"/>
            <a:ext cx="2256790" cy="1209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0"/>
              </a:spcBef>
            </a:pPr>
            <a:r>
              <a:rPr sz="950" dirty="0">
                <a:latin typeface="Georgia"/>
                <a:cs typeface="Georgia"/>
              </a:rPr>
              <a:t>Dashboard</a:t>
            </a:r>
            <a:r>
              <a:rPr sz="950" spc="95" dirty="0">
                <a:latin typeface="Georgia"/>
                <a:cs typeface="Georgia"/>
              </a:rPr>
              <a:t> </a:t>
            </a:r>
            <a:r>
              <a:rPr sz="950" spc="-10" dirty="0">
                <a:latin typeface="Georgia"/>
                <a:cs typeface="Georgia"/>
              </a:rPr>
              <a:t>Design</a:t>
            </a:r>
            <a:endParaRPr sz="9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950">
              <a:latin typeface="Georgia"/>
              <a:cs typeface="Georgia"/>
            </a:endParaRPr>
          </a:p>
          <a:p>
            <a:pPr marL="12700" marR="111125">
              <a:lnSpc>
                <a:spcPct val="114999"/>
              </a:lnSpc>
              <a:spcBef>
                <a:spcPts val="5"/>
              </a:spcBef>
            </a:pPr>
            <a:r>
              <a:rPr sz="700" spc="10" dirty="0">
                <a:latin typeface="Georgia"/>
                <a:cs typeface="Georgia"/>
              </a:rPr>
              <a:t>The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solution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consists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of</a:t>
            </a:r>
            <a:r>
              <a:rPr sz="700" spc="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three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analytical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dashboards.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Page</a:t>
            </a:r>
            <a:r>
              <a:rPr sz="700" spc="-2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Purpose</a:t>
            </a:r>
            <a:endParaRPr sz="700">
              <a:latin typeface="Georgia"/>
              <a:cs typeface="Georgia"/>
            </a:endParaRPr>
          </a:p>
          <a:p>
            <a:pPr marL="12700" marR="125095">
              <a:lnSpc>
                <a:spcPct val="114999"/>
              </a:lnSpc>
            </a:pPr>
            <a:r>
              <a:rPr sz="700" spc="10" dirty="0">
                <a:latin typeface="Georgia"/>
                <a:cs typeface="Georgia"/>
              </a:rPr>
              <a:t>Executive Dashboard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Overall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business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performance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Product</a:t>
            </a:r>
            <a:r>
              <a:rPr sz="700" spc="4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Analysis</a:t>
            </a:r>
            <a:r>
              <a:rPr sz="700" spc="4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Product</a:t>
            </a:r>
            <a:r>
              <a:rPr sz="700" spc="4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profitability</a:t>
            </a:r>
            <a:r>
              <a:rPr sz="700" spc="4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insights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Regional</a:t>
            </a:r>
            <a:r>
              <a:rPr sz="700" spc="-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Analysis</a:t>
            </a:r>
            <a:r>
              <a:rPr sz="700" spc="-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Market</a:t>
            </a:r>
            <a:r>
              <a:rPr sz="700" spc="-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performance</a:t>
            </a:r>
            <a:endParaRPr sz="700">
              <a:latin typeface="Georgia"/>
              <a:cs typeface="Georgia"/>
            </a:endParaRPr>
          </a:p>
          <a:p>
            <a:pPr marL="12700" marR="5080">
              <a:lnSpc>
                <a:spcPct val="114999"/>
              </a:lnSpc>
            </a:pPr>
            <a:r>
              <a:rPr sz="700" spc="-10" dirty="0">
                <a:latin typeface="Georgia"/>
                <a:cs typeface="Georgia"/>
              </a:rPr>
              <a:t>This</a:t>
            </a:r>
            <a:r>
              <a:rPr sz="700" spc="5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layered</a:t>
            </a:r>
            <a:r>
              <a:rPr sz="700" spc="5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design</a:t>
            </a:r>
            <a:r>
              <a:rPr sz="700" spc="6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enables</a:t>
            </a:r>
            <a:r>
              <a:rPr sz="700" spc="5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executive</a:t>
            </a:r>
            <a:r>
              <a:rPr sz="700" spc="6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overview</a:t>
            </a:r>
            <a:r>
              <a:rPr sz="700" spc="55" dirty="0">
                <a:latin typeface="Georgia"/>
                <a:cs typeface="Georgia"/>
              </a:rPr>
              <a:t> </a:t>
            </a:r>
            <a:r>
              <a:rPr sz="300" spc="445" dirty="0">
                <a:latin typeface="Lucida Sans Unicode"/>
                <a:cs typeface="Lucida Sans Unicode"/>
              </a:rPr>
              <a:t>→</a:t>
            </a:r>
            <a:r>
              <a:rPr sz="300" spc="140" dirty="0">
                <a:latin typeface="Lucida Sans Unicode"/>
                <a:cs typeface="Lucida Sans Unicode"/>
              </a:rPr>
              <a:t> </a:t>
            </a:r>
            <a:r>
              <a:rPr sz="700" spc="-20" dirty="0">
                <a:latin typeface="Georgia"/>
                <a:cs typeface="Georgia"/>
              </a:rPr>
              <a:t>deep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analysis.</a:t>
            </a:r>
            <a:endParaRPr sz="70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98209"/>
            <a:ext cx="2828925" cy="302260"/>
          </a:xfrm>
          <a:custGeom>
            <a:avLst/>
            <a:gdLst/>
            <a:ahLst/>
            <a:cxnLst/>
            <a:rect l="l" t="t" r="r" b="b"/>
            <a:pathLst>
              <a:path w="2828925" h="302260">
                <a:moveTo>
                  <a:pt x="2828925" y="302040"/>
                </a:moveTo>
                <a:lnTo>
                  <a:pt x="0" y="302040"/>
                </a:lnTo>
                <a:lnTo>
                  <a:pt x="0" y="0"/>
                </a:lnTo>
                <a:lnTo>
                  <a:pt x="2828925" y="0"/>
                </a:lnTo>
                <a:lnTo>
                  <a:pt x="2828925" y="302040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093"/>
            <a:ext cx="2286007" cy="13239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120" y="1726295"/>
            <a:ext cx="230505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dirty="0">
                <a:solidFill>
                  <a:srgbClr val="FFFFFF"/>
                </a:solidFill>
                <a:latin typeface="Georgia"/>
                <a:cs typeface="Georgia"/>
              </a:rPr>
              <a:t>Executive</a:t>
            </a:r>
            <a:r>
              <a:rPr sz="115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FFFFFF"/>
                </a:solidFill>
                <a:latin typeface="Georgia"/>
                <a:cs typeface="Georgia"/>
              </a:rPr>
              <a:t>Dashboard</a:t>
            </a:r>
            <a:r>
              <a:rPr sz="115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Georgia"/>
                <a:cs typeface="Georgia"/>
              </a:rPr>
              <a:t>Walkthrough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4890" y="399381"/>
            <a:ext cx="534035" cy="78803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350" u="sng" spc="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Key</a:t>
            </a:r>
            <a:r>
              <a:rPr sz="350" u="sng" spc="16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50" u="sng" spc="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metrics</a:t>
            </a:r>
            <a:r>
              <a:rPr sz="3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displayed</a:t>
            </a:r>
            <a:r>
              <a:rPr sz="350" spc="-10" dirty="0">
                <a:latin typeface="Georgia"/>
                <a:cs typeface="Georgia"/>
              </a:rPr>
              <a:t>:</a:t>
            </a:r>
            <a:endParaRPr sz="350" dirty="0">
              <a:latin typeface="Georgia"/>
              <a:cs typeface="Georgia"/>
            </a:endParaRPr>
          </a:p>
          <a:p>
            <a:pPr marL="40005" indent="-27305">
              <a:lnSpc>
                <a:spcPct val="100000"/>
              </a:lnSpc>
              <a:spcBef>
                <a:spcPts val="90"/>
              </a:spcBef>
              <a:buSzPct val="71428"/>
              <a:buChar char="*"/>
              <a:tabLst>
                <a:tab pos="40005" algn="l"/>
              </a:tabLst>
            </a:pPr>
            <a:r>
              <a:rPr sz="350" dirty="0">
                <a:latin typeface="Georgia"/>
                <a:cs typeface="Georgia"/>
              </a:rPr>
              <a:t>Total</a:t>
            </a:r>
            <a:r>
              <a:rPr sz="350" spc="5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Sales</a:t>
            </a:r>
            <a:endParaRPr sz="350" dirty="0">
              <a:latin typeface="Georgia"/>
              <a:cs typeface="Georgia"/>
            </a:endParaRPr>
          </a:p>
          <a:p>
            <a:pPr marL="40005" indent="-27305">
              <a:lnSpc>
                <a:spcPct val="100000"/>
              </a:lnSpc>
              <a:spcBef>
                <a:spcPts val="90"/>
              </a:spcBef>
              <a:buSzPct val="71428"/>
              <a:buChar char="*"/>
              <a:tabLst>
                <a:tab pos="40005" algn="l"/>
              </a:tabLst>
            </a:pPr>
            <a:r>
              <a:rPr sz="350" dirty="0">
                <a:latin typeface="Georgia"/>
                <a:cs typeface="Georgia"/>
              </a:rPr>
              <a:t>Total</a:t>
            </a:r>
            <a:r>
              <a:rPr sz="350" spc="5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Profit</a:t>
            </a:r>
            <a:endParaRPr sz="350" dirty="0">
              <a:latin typeface="Georgia"/>
              <a:cs typeface="Georgia"/>
            </a:endParaRPr>
          </a:p>
          <a:p>
            <a:pPr marL="40005" indent="-27305">
              <a:lnSpc>
                <a:spcPct val="100000"/>
              </a:lnSpc>
              <a:spcBef>
                <a:spcPts val="90"/>
              </a:spcBef>
              <a:buSzPct val="71428"/>
              <a:buChar char="*"/>
              <a:tabLst>
                <a:tab pos="40005" algn="l"/>
              </a:tabLst>
            </a:pPr>
            <a:r>
              <a:rPr sz="350" dirty="0">
                <a:latin typeface="Georgia"/>
                <a:cs typeface="Georgia"/>
              </a:rPr>
              <a:t>Profit</a:t>
            </a:r>
            <a:r>
              <a:rPr sz="350" spc="30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Margin</a:t>
            </a:r>
            <a:endParaRPr sz="350" dirty="0">
              <a:latin typeface="Georgia"/>
              <a:cs typeface="Georgia"/>
            </a:endParaRPr>
          </a:p>
          <a:p>
            <a:pPr marL="40005" indent="-27305">
              <a:lnSpc>
                <a:spcPct val="100000"/>
              </a:lnSpc>
              <a:spcBef>
                <a:spcPts val="90"/>
              </a:spcBef>
              <a:buSzPct val="71428"/>
              <a:buChar char="*"/>
              <a:tabLst>
                <a:tab pos="40005" algn="l"/>
              </a:tabLst>
            </a:pPr>
            <a:r>
              <a:rPr sz="350" dirty="0">
                <a:latin typeface="Georgia"/>
                <a:cs typeface="Georgia"/>
              </a:rPr>
              <a:t>Total</a:t>
            </a:r>
            <a:r>
              <a:rPr sz="350" spc="5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Orders</a:t>
            </a:r>
            <a:endParaRPr sz="350" dirty="0">
              <a:latin typeface="Georgia"/>
              <a:cs typeface="Georgia"/>
            </a:endParaRPr>
          </a:p>
          <a:p>
            <a:pPr marL="40005" indent="-27305">
              <a:lnSpc>
                <a:spcPct val="100000"/>
              </a:lnSpc>
              <a:spcBef>
                <a:spcPts val="90"/>
              </a:spcBef>
              <a:buSzPct val="71428"/>
              <a:buChar char="*"/>
              <a:tabLst>
                <a:tab pos="40005" algn="l"/>
              </a:tabLst>
            </a:pPr>
            <a:r>
              <a:rPr sz="350" dirty="0">
                <a:latin typeface="Georgia"/>
                <a:cs typeface="Georgia"/>
              </a:rPr>
              <a:t>Average</a:t>
            </a:r>
            <a:r>
              <a:rPr sz="350" spc="55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Discount</a:t>
            </a:r>
            <a:endParaRPr sz="35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Georgia"/>
              <a:buChar char="*"/>
            </a:pPr>
            <a:endParaRPr sz="3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350" dirty="0">
                <a:latin typeface="Georgia"/>
                <a:cs typeface="Georgia"/>
              </a:rPr>
              <a:t>A</a:t>
            </a:r>
            <a:r>
              <a:rPr sz="35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dditional</a:t>
            </a:r>
            <a:r>
              <a:rPr sz="350" u="sng" spc="1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ins</a:t>
            </a:r>
            <a:r>
              <a:rPr sz="350" spc="-10" dirty="0">
                <a:latin typeface="Georgia"/>
                <a:cs typeface="Georgia"/>
              </a:rPr>
              <a:t>ig</a:t>
            </a:r>
            <a:r>
              <a:rPr sz="3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hts</a:t>
            </a:r>
            <a:r>
              <a:rPr sz="350" spc="-10" dirty="0">
                <a:latin typeface="Georgia"/>
                <a:cs typeface="Georgia"/>
              </a:rPr>
              <a:t>:</a:t>
            </a:r>
            <a:endParaRPr sz="350" dirty="0">
              <a:latin typeface="Georgia"/>
              <a:cs typeface="Georgia"/>
            </a:endParaRPr>
          </a:p>
          <a:p>
            <a:pPr marL="38735" indent="-27305">
              <a:lnSpc>
                <a:spcPct val="100000"/>
              </a:lnSpc>
              <a:spcBef>
                <a:spcPts val="75"/>
              </a:spcBef>
              <a:buSzPct val="71428"/>
              <a:buChar char="*"/>
              <a:tabLst>
                <a:tab pos="38735" algn="l"/>
              </a:tabLst>
            </a:pPr>
            <a:r>
              <a:rPr sz="350" dirty="0">
                <a:latin typeface="Georgia"/>
                <a:cs typeface="Georgia"/>
              </a:rPr>
              <a:t>Sales</a:t>
            </a:r>
            <a:r>
              <a:rPr sz="350" spc="30" dirty="0">
                <a:latin typeface="Georgia"/>
                <a:cs typeface="Georgia"/>
              </a:rPr>
              <a:t> </a:t>
            </a:r>
            <a:r>
              <a:rPr sz="350" dirty="0">
                <a:latin typeface="Georgia"/>
                <a:cs typeface="Georgia"/>
              </a:rPr>
              <a:t>trend</a:t>
            </a:r>
            <a:r>
              <a:rPr sz="350" spc="35" dirty="0">
                <a:latin typeface="Georgia"/>
                <a:cs typeface="Georgia"/>
              </a:rPr>
              <a:t> </a:t>
            </a:r>
            <a:r>
              <a:rPr sz="350" dirty="0">
                <a:latin typeface="Georgia"/>
                <a:cs typeface="Georgia"/>
              </a:rPr>
              <a:t>over</a:t>
            </a:r>
            <a:r>
              <a:rPr sz="350" spc="35" dirty="0">
                <a:latin typeface="Georgia"/>
                <a:cs typeface="Georgia"/>
              </a:rPr>
              <a:t> </a:t>
            </a:r>
            <a:r>
              <a:rPr sz="350" spc="-20" dirty="0">
                <a:latin typeface="Georgia"/>
                <a:cs typeface="Georgia"/>
              </a:rPr>
              <a:t>time</a:t>
            </a:r>
            <a:endParaRPr sz="350" dirty="0">
              <a:latin typeface="Georgia"/>
              <a:cs typeface="Georgia"/>
            </a:endParaRPr>
          </a:p>
          <a:p>
            <a:pPr marL="38735" indent="-27305">
              <a:lnSpc>
                <a:spcPct val="100000"/>
              </a:lnSpc>
              <a:spcBef>
                <a:spcPts val="70"/>
              </a:spcBef>
              <a:buSzPct val="71428"/>
              <a:buChar char="*"/>
              <a:tabLst>
                <a:tab pos="38735" algn="l"/>
              </a:tabLst>
            </a:pPr>
            <a:r>
              <a:rPr sz="350" dirty="0">
                <a:latin typeface="Georgia"/>
                <a:cs typeface="Georgia"/>
              </a:rPr>
              <a:t>Profit</a:t>
            </a:r>
            <a:r>
              <a:rPr sz="350" spc="15" dirty="0">
                <a:latin typeface="Georgia"/>
                <a:cs typeface="Georgia"/>
              </a:rPr>
              <a:t> </a:t>
            </a:r>
            <a:r>
              <a:rPr sz="350" dirty="0">
                <a:latin typeface="Georgia"/>
                <a:cs typeface="Georgia"/>
              </a:rPr>
              <a:t>trend</a:t>
            </a:r>
            <a:r>
              <a:rPr sz="350" spc="20" dirty="0">
                <a:latin typeface="Georgia"/>
                <a:cs typeface="Georgia"/>
              </a:rPr>
              <a:t> </a:t>
            </a:r>
            <a:r>
              <a:rPr sz="350" dirty="0">
                <a:latin typeface="Georgia"/>
                <a:cs typeface="Georgia"/>
              </a:rPr>
              <a:t>over</a:t>
            </a:r>
            <a:r>
              <a:rPr sz="350" spc="20" dirty="0">
                <a:latin typeface="Georgia"/>
                <a:cs typeface="Georgia"/>
              </a:rPr>
              <a:t> </a:t>
            </a:r>
            <a:r>
              <a:rPr sz="350" spc="-20" dirty="0">
                <a:latin typeface="Georgia"/>
                <a:cs typeface="Georgia"/>
              </a:rPr>
              <a:t>time</a:t>
            </a:r>
            <a:endParaRPr sz="350" dirty="0">
              <a:latin typeface="Georgia"/>
              <a:cs typeface="Georgia"/>
            </a:endParaRPr>
          </a:p>
          <a:p>
            <a:pPr marL="38735" indent="-27305">
              <a:lnSpc>
                <a:spcPct val="100000"/>
              </a:lnSpc>
              <a:spcBef>
                <a:spcPts val="75"/>
              </a:spcBef>
              <a:buSzPct val="71428"/>
              <a:buChar char="*"/>
              <a:tabLst>
                <a:tab pos="38735" algn="l"/>
              </a:tabLst>
            </a:pPr>
            <a:r>
              <a:rPr sz="350" spc="10" dirty="0">
                <a:latin typeface="Georgia"/>
                <a:cs typeface="Georgia"/>
              </a:rPr>
              <a:t>Category</a:t>
            </a:r>
            <a:r>
              <a:rPr sz="350" spc="45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performance</a:t>
            </a:r>
            <a:endParaRPr sz="350" dirty="0">
              <a:latin typeface="Georgia"/>
              <a:cs typeface="Georgia"/>
            </a:endParaRPr>
          </a:p>
          <a:p>
            <a:pPr marL="38735" indent="-27305">
              <a:lnSpc>
                <a:spcPct val="100000"/>
              </a:lnSpc>
              <a:spcBef>
                <a:spcPts val="70"/>
              </a:spcBef>
              <a:buSzPct val="71428"/>
              <a:buChar char="*"/>
              <a:tabLst>
                <a:tab pos="38735" algn="l"/>
              </a:tabLst>
            </a:pPr>
            <a:r>
              <a:rPr sz="350" dirty="0">
                <a:latin typeface="Georgia"/>
                <a:cs typeface="Georgia"/>
              </a:rPr>
              <a:t>Regional</a:t>
            </a:r>
            <a:r>
              <a:rPr sz="350" spc="10" dirty="0">
                <a:latin typeface="Georgia"/>
                <a:cs typeface="Georgia"/>
              </a:rPr>
              <a:t> </a:t>
            </a:r>
            <a:r>
              <a:rPr sz="350" spc="-10" dirty="0">
                <a:latin typeface="Georgia"/>
                <a:cs typeface="Georgia"/>
              </a:rPr>
              <a:t>performance</a:t>
            </a:r>
            <a:endParaRPr sz="35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974" y="1431646"/>
            <a:ext cx="224091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10" dirty="0">
                <a:latin typeface="Georgia"/>
                <a:cs typeface="Georgia"/>
              </a:rPr>
              <a:t>Enable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leadership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to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understand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overall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business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health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in</a:t>
            </a:r>
            <a:r>
              <a:rPr sz="550" spc="3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seconds.</a:t>
            </a:r>
            <a:endParaRPr sz="55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11674" y="83390"/>
            <a:ext cx="393065" cy="22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400">
              <a:lnSpc>
                <a:spcPct val="118400"/>
              </a:lnSpc>
              <a:spcBef>
                <a:spcPts val="90"/>
              </a:spcBef>
            </a:pPr>
            <a:r>
              <a:rPr sz="550" spc="-10" dirty="0">
                <a:solidFill>
                  <a:srgbClr val="000000"/>
                </a:solidFill>
              </a:rPr>
              <a:t>Executive</a:t>
            </a:r>
            <a:r>
              <a:rPr sz="550" spc="500" dirty="0">
                <a:solidFill>
                  <a:srgbClr val="000000"/>
                </a:solidFill>
              </a:rPr>
              <a:t> </a:t>
            </a:r>
            <a:r>
              <a:rPr sz="550" spc="-10" dirty="0">
                <a:solidFill>
                  <a:srgbClr val="000000"/>
                </a:solidFill>
              </a:rPr>
              <a:t>Dashboard</a:t>
            </a:r>
            <a:endParaRPr sz="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98209"/>
            <a:ext cx="2828925" cy="302260"/>
          </a:xfrm>
          <a:custGeom>
            <a:avLst/>
            <a:gdLst/>
            <a:ahLst/>
            <a:cxnLst/>
            <a:rect l="l" t="t" r="r" b="b"/>
            <a:pathLst>
              <a:path w="2828925" h="302260">
                <a:moveTo>
                  <a:pt x="2828925" y="302040"/>
                </a:moveTo>
                <a:lnTo>
                  <a:pt x="0" y="302040"/>
                </a:lnTo>
                <a:lnTo>
                  <a:pt x="0" y="0"/>
                </a:lnTo>
                <a:lnTo>
                  <a:pt x="2828925" y="0"/>
                </a:lnTo>
                <a:lnTo>
                  <a:pt x="2828925" y="302040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209806" cy="12524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9690" y="1730327"/>
            <a:ext cx="217043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FFFFFF"/>
                </a:solidFill>
                <a:latin typeface="Georgia"/>
                <a:cs typeface="Georgia"/>
              </a:rPr>
              <a:t>Product</a:t>
            </a:r>
            <a:r>
              <a:rPr sz="125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50" dirty="0">
                <a:solidFill>
                  <a:srgbClr val="FFFFFF"/>
                </a:solidFill>
                <a:latin typeface="Georgia"/>
                <a:cs typeface="Georgia"/>
              </a:rPr>
              <a:t>Performance</a:t>
            </a:r>
            <a:r>
              <a:rPr sz="125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Georgia"/>
                <a:cs typeface="Georgia"/>
              </a:rPr>
              <a:t>Analysis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0910" y="71688"/>
            <a:ext cx="631190" cy="219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099"/>
              </a:lnSpc>
              <a:spcBef>
                <a:spcPts val="95"/>
              </a:spcBef>
            </a:pPr>
            <a:r>
              <a:rPr sz="500" b="1" spc="20" dirty="0">
                <a:latin typeface="Calibri"/>
                <a:cs typeface="Calibri"/>
              </a:rPr>
              <a:t>Product</a:t>
            </a:r>
            <a:r>
              <a:rPr sz="500" b="1" spc="30" dirty="0">
                <a:latin typeface="Calibri"/>
                <a:cs typeface="Calibri"/>
              </a:rPr>
              <a:t> </a:t>
            </a:r>
            <a:r>
              <a:rPr sz="500" b="1" spc="100" dirty="0">
                <a:latin typeface="Calibri"/>
                <a:cs typeface="Calibri"/>
              </a:rPr>
              <a:t>&amp;</a:t>
            </a:r>
            <a:r>
              <a:rPr sz="500" b="1" spc="35" dirty="0">
                <a:latin typeface="Calibri"/>
                <a:cs typeface="Calibri"/>
              </a:rPr>
              <a:t> </a:t>
            </a:r>
            <a:r>
              <a:rPr sz="500" b="1" spc="-10" dirty="0">
                <a:latin typeface="Calibri"/>
                <a:cs typeface="Calibri"/>
              </a:rPr>
              <a:t>Category</a:t>
            </a:r>
            <a:r>
              <a:rPr sz="500" b="1" spc="500" dirty="0">
                <a:latin typeface="Calibri"/>
                <a:cs typeface="Calibri"/>
              </a:rPr>
              <a:t> </a:t>
            </a:r>
            <a:r>
              <a:rPr sz="500" b="1" spc="-10" dirty="0">
                <a:latin typeface="Calibri"/>
                <a:cs typeface="Calibri"/>
              </a:rPr>
              <a:t>Insights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9806" y="363086"/>
            <a:ext cx="594360" cy="41338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Analysis</a:t>
            </a:r>
            <a:r>
              <a:rPr sz="300" u="sng" spc="6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includes</a:t>
            </a:r>
            <a:r>
              <a:rPr sz="300" spc="-10" dirty="0">
                <a:latin typeface="Georgia"/>
                <a:cs typeface="Georgia"/>
              </a:rPr>
              <a:t>: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spc="20" dirty="0">
                <a:latin typeface="Georgia"/>
                <a:cs typeface="Georgia"/>
              </a:rPr>
              <a:t>Category</a:t>
            </a:r>
            <a:r>
              <a:rPr sz="300" spc="10" dirty="0">
                <a:latin typeface="Georgia"/>
                <a:cs typeface="Georgia"/>
              </a:rPr>
              <a:t> sales </a:t>
            </a:r>
            <a:r>
              <a:rPr sz="300" spc="-10" dirty="0">
                <a:latin typeface="Georgia"/>
                <a:cs typeface="Georgia"/>
              </a:rPr>
              <a:t>distribution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spc="10" dirty="0">
                <a:latin typeface="Georgia"/>
                <a:cs typeface="Georgia"/>
              </a:rPr>
              <a:t>Sub-category</a:t>
            </a:r>
            <a:r>
              <a:rPr sz="300" spc="75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profitability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Top</a:t>
            </a:r>
            <a:r>
              <a:rPr sz="300" spc="10" dirty="0">
                <a:latin typeface="Georgia"/>
                <a:cs typeface="Georgia"/>
              </a:rPr>
              <a:t> performing</a:t>
            </a:r>
            <a:r>
              <a:rPr sz="300" spc="15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products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spc="10" dirty="0">
                <a:latin typeface="Georgia"/>
                <a:cs typeface="Georgia"/>
              </a:rPr>
              <a:t>Quantity vs</a:t>
            </a:r>
            <a:r>
              <a:rPr sz="300" spc="15" dirty="0">
                <a:latin typeface="Georgia"/>
                <a:cs typeface="Georgia"/>
              </a:rPr>
              <a:t> </a:t>
            </a:r>
            <a:r>
              <a:rPr sz="300" dirty="0">
                <a:latin typeface="Georgia"/>
                <a:cs typeface="Georgia"/>
              </a:rPr>
              <a:t>Profit</a:t>
            </a:r>
            <a:r>
              <a:rPr sz="300" spc="1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relationship</a:t>
            </a:r>
            <a:endParaRPr sz="300" dirty="0">
              <a:latin typeface="Georgia"/>
              <a:cs typeface="Georgia"/>
            </a:endParaRPr>
          </a:p>
          <a:p>
            <a:pPr marL="12700" marR="44450" indent="-2540">
              <a:lnSpc>
                <a:spcPct val="121100"/>
              </a:lnSpc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	Profit</a:t>
            </a:r>
            <a:r>
              <a:rPr sz="300" spc="30" dirty="0">
                <a:latin typeface="Georgia"/>
                <a:cs typeface="Georgia"/>
              </a:rPr>
              <a:t> </a:t>
            </a:r>
            <a:r>
              <a:rPr sz="300" spc="10" dirty="0">
                <a:latin typeface="Georgia"/>
                <a:cs typeface="Georgia"/>
              </a:rPr>
              <a:t>contribution</a:t>
            </a:r>
            <a:r>
              <a:rPr sz="300" spc="3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waterfall</a:t>
            </a:r>
            <a:r>
              <a:rPr sz="300" spc="50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chart</a:t>
            </a:r>
            <a:endParaRPr sz="3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255" y="1420851"/>
            <a:ext cx="185483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10" dirty="0">
                <a:latin typeface="Georgia"/>
                <a:cs typeface="Georgia"/>
              </a:rPr>
              <a:t>Which</a:t>
            </a:r>
            <a:r>
              <a:rPr sz="550" spc="-5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products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drive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revenue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and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which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destroy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profit?</a:t>
            </a:r>
            <a:endParaRPr sz="55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98209"/>
            <a:ext cx="2828925" cy="302260"/>
          </a:xfrm>
          <a:custGeom>
            <a:avLst/>
            <a:gdLst/>
            <a:ahLst/>
            <a:cxnLst/>
            <a:rect l="l" t="t" r="r" b="b"/>
            <a:pathLst>
              <a:path w="2828925" h="302260">
                <a:moveTo>
                  <a:pt x="2828925" y="302040"/>
                </a:moveTo>
                <a:lnTo>
                  <a:pt x="0" y="302040"/>
                </a:lnTo>
                <a:lnTo>
                  <a:pt x="0" y="0"/>
                </a:lnTo>
                <a:lnTo>
                  <a:pt x="2828925" y="0"/>
                </a:lnTo>
                <a:lnTo>
                  <a:pt x="2828925" y="302040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257432" cy="12712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663" y="1723080"/>
            <a:ext cx="212979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Regional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Georgia"/>
                <a:cs typeface="Georgia"/>
              </a:rPr>
              <a:t>Customer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Analysis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48981" y="75448"/>
            <a:ext cx="483870" cy="346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00"/>
                </a:solidFill>
                <a:latin typeface="Calibri"/>
                <a:cs typeface="Calibri"/>
              </a:rPr>
              <a:t>Market</a:t>
            </a:r>
            <a:r>
              <a:rPr sz="600" b="1" spc="5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00" b="1" spc="-10" dirty="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sz="600" b="1" spc="5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00" b="1" spc="-10" dirty="0">
                <a:solidFill>
                  <a:srgbClr val="000000"/>
                </a:solidFill>
                <a:latin typeface="Calibri"/>
                <a:cs typeface="Calibri"/>
              </a:rPr>
              <a:t>Insights</a:t>
            </a:r>
            <a:endParaRPr sz="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3064" y="502391"/>
            <a:ext cx="561340" cy="52324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This</a:t>
            </a:r>
            <a:r>
              <a:rPr sz="300" u="sng" spc="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page</a:t>
            </a:r>
            <a:r>
              <a:rPr sz="300" u="sng" spc="3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analyzes</a:t>
            </a:r>
            <a:r>
              <a:rPr sz="300" spc="-10" dirty="0">
                <a:latin typeface="Georgia"/>
                <a:cs typeface="Georgia"/>
              </a:rPr>
              <a:t>: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Regional</a:t>
            </a:r>
            <a:r>
              <a:rPr sz="300" spc="30" dirty="0">
                <a:latin typeface="Georgia"/>
                <a:cs typeface="Georgia"/>
              </a:rPr>
              <a:t> </a:t>
            </a:r>
            <a:r>
              <a:rPr sz="300" spc="10" dirty="0">
                <a:latin typeface="Georgia"/>
                <a:cs typeface="Georgia"/>
              </a:rPr>
              <a:t>sales</a:t>
            </a:r>
            <a:r>
              <a:rPr sz="300" spc="35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distribution</a:t>
            </a:r>
            <a:endParaRPr sz="300" dirty="0">
              <a:latin typeface="Georgia"/>
              <a:cs typeface="Georgia"/>
            </a:endParaRPr>
          </a:p>
          <a:p>
            <a:pPr marL="35560" indent="-25400">
              <a:lnSpc>
                <a:spcPct val="100000"/>
              </a:lnSpc>
              <a:spcBef>
                <a:spcPts val="75"/>
              </a:spcBef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State-level</a:t>
            </a:r>
            <a:r>
              <a:rPr sz="300" spc="8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performance</a:t>
            </a:r>
            <a:endParaRPr sz="300" dirty="0">
              <a:latin typeface="Georgia"/>
              <a:cs typeface="Georgia"/>
            </a:endParaRPr>
          </a:p>
          <a:p>
            <a:pPr marL="12700" marR="159385" indent="-2540">
              <a:lnSpc>
                <a:spcPct val="120900"/>
              </a:lnSpc>
              <a:buSzPct val="66666"/>
              <a:buChar char="*"/>
              <a:tabLst>
                <a:tab pos="35560" algn="l"/>
              </a:tabLst>
            </a:pPr>
            <a:r>
              <a:rPr sz="300" spc="20" dirty="0">
                <a:latin typeface="Georgia"/>
                <a:cs typeface="Georgia"/>
              </a:rPr>
              <a:t>	Customer </a:t>
            </a:r>
            <a:r>
              <a:rPr sz="300" spc="-10" dirty="0">
                <a:latin typeface="Georgia"/>
                <a:cs typeface="Georgia"/>
              </a:rPr>
              <a:t>segment</a:t>
            </a:r>
            <a:r>
              <a:rPr sz="300" spc="50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contribution</a:t>
            </a:r>
            <a:endParaRPr sz="300" dirty="0">
              <a:latin typeface="Georgia"/>
              <a:cs typeface="Georgia"/>
            </a:endParaRPr>
          </a:p>
          <a:p>
            <a:pPr marL="12700" marR="5080" indent="-2540">
              <a:lnSpc>
                <a:spcPct val="120900"/>
              </a:lnSpc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	Shipping</a:t>
            </a:r>
            <a:r>
              <a:rPr sz="300" spc="50" dirty="0">
                <a:latin typeface="Georgia"/>
                <a:cs typeface="Georgia"/>
              </a:rPr>
              <a:t> </a:t>
            </a:r>
            <a:r>
              <a:rPr sz="300" spc="10" dirty="0">
                <a:latin typeface="Georgia"/>
                <a:cs typeface="Georgia"/>
              </a:rPr>
              <a:t>method</a:t>
            </a:r>
            <a:r>
              <a:rPr sz="300" spc="50" dirty="0">
                <a:latin typeface="Georgia"/>
                <a:cs typeface="Georgia"/>
              </a:rPr>
              <a:t> </a:t>
            </a:r>
            <a:r>
              <a:rPr sz="300" spc="10" dirty="0">
                <a:latin typeface="Georgia"/>
                <a:cs typeface="Georgia"/>
              </a:rPr>
              <a:t>impact</a:t>
            </a:r>
            <a:r>
              <a:rPr sz="300" spc="50" dirty="0">
                <a:latin typeface="Georgia"/>
                <a:cs typeface="Georgia"/>
              </a:rPr>
              <a:t> </a:t>
            </a:r>
            <a:r>
              <a:rPr sz="300" spc="-25" dirty="0">
                <a:latin typeface="Georgia"/>
                <a:cs typeface="Georgia"/>
              </a:rPr>
              <a:t>on</a:t>
            </a:r>
            <a:r>
              <a:rPr sz="300" spc="50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sales</a:t>
            </a:r>
            <a:endParaRPr sz="300" dirty="0">
              <a:latin typeface="Georgia"/>
              <a:cs typeface="Georgia"/>
            </a:endParaRPr>
          </a:p>
          <a:p>
            <a:pPr marL="12700" marR="139065" indent="-2540">
              <a:lnSpc>
                <a:spcPct val="120900"/>
              </a:lnSpc>
              <a:buSzPct val="66666"/>
              <a:buChar char="*"/>
              <a:tabLst>
                <a:tab pos="35560" algn="l"/>
              </a:tabLst>
            </a:pPr>
            <a:r>
              <a:rPr sz="300" dirty="0">
                <a:latin typeface="Georgia"/>
                <a:cs typeface="Georgia"/>
              </a:rPr>
              <a:t>	Regional</a:t>
            </a:r>
            <a:r>
              <a:rPr sz="300" spc="45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profitability</a:t>
            </a:r>
            <a:r>
              <a:rPr sz="300" spc="500" dirty="0">
                <a:latin typeface="Georgia"/>
                <a:cs typeface="Georgia"/>
              </a:rPr>
              <a:t> </a:t>
            </a:r>
            <a:r>
              <a:rPr sz="300" spc="-10" dirty="0">
                <a:latin typeface="Georgia"/>
                <a:cs typeface="Georgia"/>
              </a:rPr>
              <a:t>comparison</a:t>
            </a:r>
            <a:endParaRPr sz="3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976" y="1330181"/>
            <a:ext cx="2106930" cy="22415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550" spc="-10" dirty="0">
                <a:latin typeface="Georgia"/>
                <a:cs typeface="Georgia"/>
              </a:rPr>
              <a:t>Purpose:</a:t>
            </a:r>
            <a:endParaRPr sz="5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latin typeface="Georgia"/>
                <a:cs typeface="Georgia"/>
              </a:rPr>
              <a:t>Identify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high-</a:t>
            </a:r>
            <a:r>
              <a:rPr sz="550" spc="10" dirty="0">
                <a:latin typeface="Georgia"/>
                <a:cs typeface="Georgia"/>
              </a:rPr>
              <a:t>performing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markets</a:t>
            </a:r>
            <a:r>
              <a:rPr sz="550" spc="7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and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expansion</a:t>
            </a:r>
            <a:r>
              <a:rPr sz="550" spc="7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opportunities.</a:t>
            </a:r>
            <a:endParaRPr sz="55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28925" cy="318135"/>
          </a:xfrm>
          <a:custGeom>
            <a:avLst/>
            <a:gdLst/>
            <a:ahLst/>
            <a:cxnLst/>
            <a:rect l="l" t="t" r="r" b="b"/>
            <a:pathLst>
              <a:path w="2828925" h="318135">
                <a:moveTo>
                  <a:pt x="2828925" y="318063"/>
                </a:moveTo>
                <a:lnTo>
                  <a:pt x="0" y="318063"/>
                </a:lnTo>
                <a:lnTo>
                  <a:pt x="0" y="0"/>
                </a:lnTo>
                <a:lnTo>
                  <a:pt x="2828925" y="0"/>
                </a:lnTo>
                <a:lnTo>
                  <a:pt x="2828925" y="318063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231" y="840"/>
            <a:ext cx="1824989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dirty="0"/>
              <a:t>Key</a:t>
            </a:r>
            <a:r>
              <a:rPr sz="1500" spc="-35" dirty="0"/>
              <a:t> </a:t>
            </a:r>
            <a:r>
              <a:rPr sz="1500" spc="-10" dirty="0"/>
              <a:t>Business</a:t>
            </a:r>
            <a:r>
              <a:rPr sz="1500" spc="-30" dirty="0"/>
              <a:t> </a:t>
            </a:r>
            <a:r>
              <a:rPr sz="1500" spc="-10" dirty="0"/>
              <a:t>Insights</a:t>
            </a:r>
            <a:endParaRPr sz="1500"/>
          </a:p>
        </p:txBody>
      </p:sp>
      <p:sp>
        <p:nvSpPr>
          <p:cNvPr id="4" name="object 4"/>
          <p:cNvSpPr txBox="1"/>
          <p:nvPr/>
        </p:nvSpPr>
        <p:spPr>
          <a:xfrm>
            <a:off x="218084" y="728638"/>
            <a:ext cx="91440" cy="6191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95"/>
              </a:spcBef>
            </a:pPr>
            <a:r>
              <a:rPr sz="700" spc="-40" dirty="0">
                <a:latin typeface="Georgia"/>
                <a:cs typeface="Georgia"/>
              </a:rPr>
              <a:t>1.</a:t>
            </a:r>
            <a:endParaRPr sz="700">
              <a:latin typeface="Georgia"/>
              <a:cs typeface="Georgia"/>
            </a:endParaRPr>
          </a:p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latin typeface="Georgia"/>
                <a:cs typeface="Georgia"/>
              </a:rPr>
              <a:t>2.</a:t>
            </a:r>
            <a:endParaRPr sz="700">
              <a:latin typeface="Georgia"/>
              <a:cs typeface="Georgia"/>
            </a:endParaRPr>
          </a:p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Georgia"/>
                <a:cs typeface="Georgia"/>
              </a:rPr>
              <a:t>3.</a:t>
            </a:r>
            <a:endParaRPr sz="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Georgia"/>
                <a:cs typeface="Georgia"/>
              </a:rPr>
              <a:t>4.</a:t>
            </a:r>
            <a:endParaRPr sz="700">
              <a:latin typeface="Georgia"/>
              <a:cs typeface="Georgia"/>
            </a:endParaRPr>
          </a:p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Georgia"/>
                <a:cs typeface="Georgia"/>
              </a:rPr>
              <a:t>5.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206" y="728638"/>
            <a:ext cx="2250440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200"/>
              </a:lnSpc>
              <a:spcBef>
                <a:spcPts val="100"/>
              </a:spcBef>
            </a:pPr>
            <a:r>
              <a:rPr sz="700" dirty="0">
                <a:latin typeface="Georgia"/>
                <a:cs typeface="Georgia"/>
              </a:rPr>
              <a:t>Technology</a:t>
            </a:r>
            <a:r>
              <a:rPr sz="700" spc="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category</a:t>
            </a:r>
            <a:r>
              <a:rPr sz="700" spc="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generates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the</a:t>
            </a:r>
            <a:r>
              <a:rPr sz="700" spc="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highest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profit</a:t>
            </a:r>
            <a:r>
              <a:rPr sz="700" spc="1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margin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Furniture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category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shows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high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sales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but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low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profitability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West</a:t>
            </a:r>
            <a:r>
              <a:rPr sz="700" dirty="0">
                <a:latin typeface="Georgia"/>
                <a:cs typeface="Georgia"/>
              </a:rPr>
              <a:t> region</a:t>
            </a:r>
            <a:r>
              <a:rPr sz="700" spc="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contributes</a:t>
            </a:r>
            <a:r>
              <a:rPr sz="700" spc="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the largest</a:t>
            </a:r>
            <a:r>
              <a:rPr sz="700" spc="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revenue</a:t>
            </a:r>
            <a:r>
              <a:rPr sz="700" spc="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share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Consumer</a:t>
            </a:r>
            <a:r>
              <a:rPr sz="700" spc="4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segment</a:t>
            </a:r>
            <a:r>
              <a:rPr sz="700" spc="4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drives</a:t>
            </a:r>
            <a:r>
              <a:rPr sz="700" spc="4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majority</a:t>
            </a:r>
            <a:r>
              <a:rPr sz="700" spc="4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4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sales</a:t>
            </a:r>
            <a:endParaRPr sz="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Georgia"/>
                <a:cs typeface="Georgia"/>
              </a:rPr>
              <a:t>Higher</a:t>
            </a:r>
            <a:r>
              <a:rPr sz="700" spc="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discounts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strongly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correlate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with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lower</a:t>
            </a:r>
            <a:r>
              <a:rPr sz="700" spc="20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profit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697" y="59629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3893" y="21774"/>
                </a:moveTo>
                <a:lnTo>
                  <a:pt x="7880" y="21774"/>
                </a:lnTo>
                <a:lnTo>
                  <a:pt x="5314" y="20711"/>
                </a:lnTo>
                <a:lnTo>
                  <a:pt x="1062" y="16459"/>
                </a:lnTo>
                <a:lnTo>
                  <a:pt x="0" y="13893"/>
                </a:lnTo>
                <a:lnTo>
                  <a:pt x="0" y="7880"/>
                </a:lnTo>
                <a:lnTo>
                  <a:pt x="1062" y="5314"/>
                </a:lnTo>
                <a:lnTo>
                  <a:pt x="5314" y="1062"/>
                </a:lnTo>
                <a:lnTo>
                  <a:pt x="7880" y="0"/>
                </a:lnTo>
                <a:lnTo>
                  <a:pt x="13893" y="0"/>
                </a:lnTo>
                <a:lnTo>
                  <a:pt x="16459" y="1062"/>
                </a:lnTo>
                <a:lnTo>
                  <a:pt x="20711" y="5314"/>
                </a:lnTo>
                <a:lnTo>
                  <a:pt x="21774" y="7880"/>
                </a:lnTo>
                <a:lnTo>
                  <a:pt x="21774" y="10887"/>
                </a:lnTo>
                <a:lnTo>
                  <a:pt x="21774" y="13893"/>
                </a:lnTo>
                <a:lnTo>
                  <a:pt x="20711" y="16459"/>
                </a:lnTo>
                <a:lnTo>
                  <a:pt x="16459" y="20711"/>
                </a:lnTo>
                <a:lnTo>
                  <a:pt x="13893" y="21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5187" y="525528"/>
            <a:ext cx="49085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sz="6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6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</a:t>
            </a:r>
            <a:r>
              <a:rPr sz="650" b="1" spc="-10" dirty="0">
                <a:latin typeface="Calibri"/>
                <a:cs typeface="Calibri"/>
              </a:rPr>
              <a:t>ig</a:t>
            </a:r>
            <a:r>
              <a:rPr sz="6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hts</a:t>
            </a:r>
            <a:endParaRPr sz="65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28925" cy="2000250"/>
            <a:chOff x="0" y="0"/>
            <a:chExt cx="2828925" cy="20002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28925" cy="318135"/>
            </a:xfrm>
            <a:custGeom>
              <a:avLst/>
              <a:gdLst/>
              <a:ahLst/>
              <a:cxnLst/>
              <a:rect l="l" t="t" r="r" b="b"/>
              <a:pathLst>
                <a:path w="2828925" h="318135">
                  <a:moveTo>
                    <a:pt x="2828925" y="318063"/>
                  </a:moveTo>
                  <a:lnTo>
                    <a:pt x="0" y="318063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318063"/>
                  </a:lnTo>
                  <a:close/>
                </a:path>
              </a:pathLst>
            </a:custGeom>
            <a:solidFill>
              <a:srgbClr val="5E5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697" y="318063"/>
              <a:ext cx="1304290" cy="1682750"/>
            </a:xfrm>
            <a:custGeom>
              <a:avLst/>
              <a:gdLst/>
              <a:ahLst/>
              <a:cxnLst/>
              <a:rect l="l" t="t" r="r" b="b"/>
              <a:pathLst>
                <a:path w="1304289" h="1682750">
                  <a:moveTo>
                    <a:pt x="1304227" y="1682186"/>
                  </a:moveTo>
                  <a:lnTo>
                    <a:pt x="0" y="1682186"/>
                  </a:lnTo>
                  <a:lnTo>
                    <a:pt x="0" y="0"/>
                  </a:lnTo>
                  <a:lnTo>
                    <a:pt x="1304227" y="0"/>
                  </a:lnTo>
                  <a:lnTo>
                    <a:pt x="1304227" y="1682186"/>
                  </a:lnTo>
                  <a:close/>
                </a:path>
              </a:pathLst>
            </a:custGeom>
            <a:solidFill>
              <a:srgbClr val="5E5273">
                <a:alpha val="5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5532" y="745139"/>
              <a:ext cx="1057278" cy="61912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5"/>
              </a:spcBef>
            </a:pPr>
            <a:r>
              <a:rPr sz="1500" dirty="0"/>
              <a:t>Business</a:t>
            </a:r>
            <a:r>
              <a:rPr sz="1500" spc="5" dirty="0"/>
              <a:t> </a:t>
            </a:r>
            <a:r>
              <a:rPr sz="1500" spc="-10" dirty="0"/>
              <a:t>Interpretation</a:t>
            </a:r>
            <a:endParaRPr sz="1500"/>
          </a:p>
        </p:txBody>
      </p:sp>
      <p:sp>
        <p:nvSpPr>
          <p:cNvPr id="7" name="object 7"/>
          <p:cNvSpPr/>
          <p:nvPr/>
        </p:nvSpPr>
        <p:spPr>
          <a:xfrm>
            <a:off x="46532" y="409308"/>
            <a:ext cx="176530" cy="1351280"/>
          </a:xfrm>
          <a:custGeom>
            <a:avLst/>
            <a:gdLst/>
            <a:ahLst/>
            <a:cxnLst/>
            <a:rect l="l" t="t" r="r" b="b"/>
            <a:pathLst>
              <a:path w="176529" h="1351280">
                <a:moveTo>
                  <a:pt x="19939" y="1338300"/>
                </a:moveTo>
                <a:lnTo>
                  <a:pt x="18961" y="1335951"/>
                </a:lnTo>
                <a:lnTo>
                  <a:pt x="15074" y="1332052"/>
                </a:lnTo>
                <a:lnTo>
                  <a:pt x="12725" y="1331087"/>
                </a:lnTo>
                <a:lnTo>
                  <a:pt x="7213" y="1331087"/>
                </a:lnTo>
                <a:lnTo>
                  <a:pt x="4864" y="1332052"/>
                </a:lnTo>
                <a:lnTo>
                  <a:pt x="965" y="1335951"/>
                </a:lnTo>
                <a:lnTo>
                  <a:pt x="0" y="1338300"/>
                </a:lnTo>
                <a:lnTo>
                  <a:pt x="0" y="1343812"/>
                </a:lnTo>
                <a:lnTo>
                  <a:pt x="965" y="1346161"/>
                </a:lnTo>
                <a:lnTo>
                  <a:pt x="4864" y="1350048"/>
                </a:lnTo>
                <a:lnTo>
                  <a:pt x="7213" y="1351026"/>
                </a:lnTo>
                <a:lnTo>
                  <a:pt x="12725" y="1351026"/>
                </a:lnTo>
                <a:lnTo>
                  <a:pt x="15074" y="1350048"/>
                </a:lnTo>
                <a:lnTo>
                  <a:pt x="18961" y="1346161"/>
                </a:lnTo>
                <a:lnTo>
                  <a:pt x="19939" y="1343812"/>
                </a:lnTo>
                <a:lnTo>
                  <a:pt x="19939" y="1341056"/>
                </a:lnTo>
                <a:lnTo>
                  <a:pt x="19939" y="1338300"/>
                </a:lnTo>
                <a:close/>
              </a:path>
              <a:path w="176529" h="1351280">
                <a:moveTo>
                  <a:pt x="176377" y="7239"/>
                </a:moveTo>
                <a:lnTo>
                  <a:pt x="175399" y="4876"/>
                </a:lnTo>
                <a:lnTo>
                  <a:pt x="171500" y="977"/>
                </a:lnTo>
                <a:lnTo>
                  <a:pt x="169138" y="0"/>
                </a:lnTo>
                <a:lnTo>
                  <a:pt x="163626" y="0"/>
                </a:lnTo>
                <a:lnTo>
                  <a:pt x="161264" y="977"/>
                </a:lnTo>
                <a:lnTo>
                  <a:pt x="157365" y="4876"/>
                </a:lnTo>
                <a:lnTo>
                  <a:pt x="156387" y="7239"/>
                </a:lnTo>
                <a:lnTo>
                  <a:pt x="156387" y="12763"/>
                </a:lnTo>
                <a:lnTo>
                  <a:pt x="157365" y="15113"/>
                </a:lnTo>
                <a:lnTo>
                  <a:pt x="161264" y="19024"/>
                </a:lnTo>
                <a:lnTo>
                  <a:pt x="163626" y="19989"/>
                </a:lnTo>
                <a:lnTo>
                  <a:pt x="169138" y="19989"/>
                </a:lnTo>
                <a:lnTo>
                  <a:pt x="171500" y="19024"/>
                </a:lnTo>
                <a:lnTo>
                  <a:pt x="175399" y="15113"/>
                </a:lnTo>
                <a:lnTo>
                  <a:pt x="176377" y="12763"/>
                </a:lnTo>
                <a:lnTo>
                  <a:pt x="176377" y="9994"/>
                </a:lnTo>
                <a:lnTo>
                  <a:pt x="176377" y="7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6050" y="329669"/>
            <a:ext cx="94869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What</a:t>
            </a:r>
            <a:r>
              <a:rPr sz="7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7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7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Tells</a:t>
            </a:r>
            <a:r>
              <a:rPr sz="7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5890">
              <a:lnSpc>
                <a:spcPct val="116599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30" dirty="0"/>
              <a:t> </a:t>
            </a:r>
            <a:r>
              <a:rPr dirty="0"/>
              <a:t>reveals</a:t>
            </a:r>
            <a:r>
              <a:rPr spc="30" dirty="0"/>
              <a:t> </a:t>
            </a:r>
            <a:r>
              <a:rPr dirty="0"/>
              <a:t>several</a:t>
            </a:r>
            <a:r>
              <a:rPr spc="35" dirty="0"/>
              <a:t> </a:t>
            </a:r>
            <a:r>
              <a:rPr spc="-10" dirty="0"/>
              <a:t>important</a:t>
            </a:r>
            <a:r>
              <a:rPr spc="500" dirty="0"/>
              <a:t> </a:t>
            </a:r>
            <a:r>
              <a:rPr spc="-10" dirty="0"/>
              <a:t>patterns:</a:t>
            </a:r>
          </a:p>
          <a:p>
            <a:pPr marL="12700" marR="172720" indent="-4445">
              <a:lnSpc>
                <a:spcPct val="116599"/>
              </a:lnSpc>
              <a:buChar char="*"/>
              <a:tabLst>
                <a:tab pos="57785" algn="l"/>
              </a:tabLst>
            </a:pPr>
            <a:r>
              <a:rPr dirty="0"/>
              <a:t>	Discount</a:t>
            </a:r>
            <a:r>
              <a:rPr spc="85" dirty="0"/>
              <a:t> </a:t>
            </a:r>
            <a:r>
              <a:rPr dirty="0"/>
              <a:t>strategies</a:t>
            </a:r>
            <a:r>
              <a:rPr spc="90" dirty="0"/>
              <a:t> </a:t>
            </a:r>
            <a:r>
              <a:rPr spc="-10" dirty="0"/>
              <a:t>significantly</a:t>
            </a:r>
            <a:r>
              <a:rPr spc="500" dirty="0"/>
              <a:t> </a:t>
            </a:r>
            <a:r>
              <a:rPr dirty="0"/>
              <a:t>affect</a:t>
            </a:r>
            <a:r>
              <a:rPr spc="80" dirty="0"/>
              <a:t> </a:t>
            </a:r>
            <a:r>
              <a:rPr spc="-10" dirty="0"/>
              <a:t>profitability</a:t>
            </a:r>
          </a:p>
          <a:p>
            <a:pPr marL="12700" marR="76200" indent="-4445">
              <a:lnSpc>
                <a:spcPct val="116599"/>
              </a:lnSpc>
              <a:buChar char="*"/>
              <a:tabLst>
                <a:tab pos="57785" algn="l"/>
              </a:tabLst>
            </a:pPr>
            <a:r>
              <a:rPr spc="10" dirty="0"/>
              <a:t>	Certain</a:t>
            </a:r>
            <a:r>
              <a:rPr spc="60" dirty="0"/>
              <a:t> </a:t>
            </a:r>
            <a:r>
              <a:rPr spc="10" dirty="0"/>
              <a:t>sub-categories</a:t>
            </a:r>
            <a:r>
              <a:rPr spc="65" dirty="0"/>
              <a:t> </a:t>
            </a:r>
            <a:r>
              <a:rPr dirty="0"/>
              <a:t>drive</a:t>
            </a:r>
            <a:r>
              <a:rPr spc="65" dirty="0"/>
              <a:t> </a:t>
            </a:r>
            <a:r>
              <a:rPr spc="-20" dirty="0"/>
              <a:t>most</a:t>
            </a:r>
            <a:r>
              <a:rPr spc="500" dirty="0"/>
              <a:t> </a:t>
            </a:r>
            <a:r>
              <a:rPr dirty="0"/>
              <a:t>profit</a:t>
            </a:r>
            <a:r>
              <a:rPr spc="10" dirty="0"/>
              <a:t> </a:t>
            </a:r>
            <a:r>
              <a:rPr spc="-10" dirty="0"/>
              <a:t>contribution</a:t>
            </a:r>
          </a:p>
          <a:p>
            <a:pPr marL="12700" marR="25400" indent="-4445">
              <a:lnSpc>
                <a:spcPct val="116599"/>
              </a:lnSpc>
              <a:buChar char="*"/>
              <a:tabLst>
                <a:tab pos="57785" algn="l"/>
              </a:tabLst>
            </a:pPr>
            <a:r>
              <a:rPr spc="-10" dirty="0"/>
              <a:t>	High</a:t>
            </a:r>
            <a:r>
              <a:rPr spc="45" dirty="0"/>
              <a:t> </a:t>
            </a:r>
            <a:r>
              <a:rPr dirty="0"/>
              <a:t>sales</a:t>
            </a:r>
            <a:r>
              <a:rPr spc="50" dirty="0"/>
              <a:t> </a:t>
            </a:r>
            <a:r>
              <a:rPr dirty="0"/>
              <a:t>does</a:t>
            </a:r>
            <a:r>
              <a:rPr spc="45" dirty="0"/>
              <a:t> </a:t>
            </a:r>
            <a:r>
              <a:rPr dirty="0"/>
              <a:t>not</a:t>
            </a:r>
            <a:r>
              <a:rPr spc="50" dirty="0"/>
              <a:t> </a:t>
            </a:r>
            <a:r>
              <a:rPr dirty="0"/>
              <a:t>always</a:t>
            </a:r>
            <a:r>
              <a:rPr spc="50" dirty="0"/>
              <a:t> </a:t>
            </a:r>
            <a:r>
              <a:rPr spc="-10" dirty="0"/>
              <a:t>translate</a:t>
            </a:r>
            <a:r>
              <a:rPr spc="50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high</a:t>
            </a:r>
            <a:r>
              <a:rPr spc="15" dirty="0"/>
              <a:t> </a:t>
            </a:r>
            <a:r>
              <a:rPr spc="-10" dirty="0"/>
              <a:t>profit</a:t>
            </a:r>
          </a:p>
          <a:p>
            <a:pPr marL="12700" marR="266700" indent="-4445">
              <a:lnSpc>
                <a:spcPct val="116599"/>
              </a:lnSpc>
              <a:buChar char="*"/>
              <a:tabLst>
                <a:tab pos="57785" algn="l"/>
              </a:tabLst>
            </a:pPr>
            <a:r>
              <a:rPr dirty="0"/>
              <a:t>	Regional</a:t>
            </a:r>
            <a:r>
              <a:rPr spc="165" dirty="0"/>
              <a:t> </a:t>
            </a:r>
            <a:r>
              <a:rPr dirty="0"/>
              <a:t>performance</a:t>
            </a:r>
            <a:r>
              <a:rPr spc="165" dirty="0"/>
              <a:t> </a:t>
            </a:r>
            <a:r>
              <a:rPr spc="-10" dirty="0"/>
              <a:t>varies</a:t>
            </a:r>
            <a:r>
              <a:rPr spc="500" dirty="0"/>
              <a:t> </a:t>
            </a:r>
            <a:r>
              <a:rPr spc="-10" dirty="0"/>
              <a:t>significantly</a:t>
            </a:r>
          </a:p>
          <a:p>
            <a:pPr marL="18415" marR="5080">
              <a:lnSpc>
                <a:spcPct val="116300"/>
              </a:lnSpc>
              <a:spcBef>
                <a:spcPts val="140"/>
              </a:spcBef>
            </a:pPr>
            <a:r>
              <a:rPr dirty="0"/>
              <a:t>This</a:t>
            </a:r>
            <a:r>
              <a:rPr spc="160" dirty="0"/>
              <a:t> </a:t>
            </a:r>
            <a:r>
              <a:rPr dirty="0"/>
              <a:t>indicates</a:t>
            </a:r>
            <a:r>
              <a:rPr spc="165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dirty="0"/>
              <a:t>need</a:t>
            </a:r>
            <a:r>
              <a:rPr spc="165" dirty="0"/>
              <a:t> </a:t>
            </a:r>
            <a:r>
              <a:rPr dirty="0"/>
              <a:t>for</a:t>
            </a:r>
            <a:r>
              <a:rPr spc="165" dirty="0"/>
              <a:t> </a:t>
            </a:r>
            <a:r>
              <a:rPr spc="-10" dirty="0"/>
              <a:t>strategic</a:t>
            </a:r>
            <a:r>
              <a:rPr spc="500" dirty="0"/>
              <a:t> </a:t>
            </a:r>
            <a:r>
              <a:rPr dirty="0"/>
              <a:t>pricing</a:t>
            </a:r>
            <a:r>
              <a:rPr spc="65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market</a:t>
            </a:r>
            <a:r>
              <a:rPr spc="70" dirty="0"/>
              <a:t> </a:t>
            </a:r>
            <a:r>
              <a:rPr spc="-10" dirty="0"/>
              <a:t>optimization.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75823" y="1377759"/>
            <a:ext cx="654685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solidFill>
                  <a:srgbClr val="FFFFFF"/>
                </a:solidFill>
                <a:latin typeface="Georgia"/>
                <a:cs typeface="Georgia"/>
              </a:rPr>
              <a:t>Business</a:t>
            </a:r>
            <a:r>
              <a:rPr sz="45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50" spc="-10" dirty="0">
                <a:solidFill>
                  <a:srgbClr val="FFFFFF"/>
                </a:solidFill>
                <a:latin typeface="Georgia"/>
                <a:cs typeface="Georgia"/>
              </a:rPr>
              <a:t>Interpretation</a:t>
            </a:r>
            <a:endParaRPr sz="45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28925" cy="318135"/>
          </a:xfrm>
          <a:custGeom>
            <a:avLst/>
            <a:gdLst/>
            <a:ahLst/>
            <a:cxnLst/>
            <a:rect l="l" t="t" r="r" b="b"/>
            <a:pathLst>
              <a:path w="2828925" h="318135">
                <a:moveTo>
                  <a:pt x="2828925" y="318063"/>
                </a:moveTo>
                <a:lnTo>
                  <a:pt x="0" y="318063"/>
                </a:lnTo>
                <a:lnTo>
                  <a:pt x="0" y="0"/>
                </a:lnTo>
                <a:lnTo>
                  <a:pt x="2828925" y="0"/>
                </a:lnTo>
                <a:lnTo>
                  <a:pt x="2828925" y="318063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95"/>
              </a:spcBef>
            </a:pPr>
            <a:r>
              <a:rPr sz="1200" spc="-10" dirty="0"/>
              <a:t>Strategic</a:t>
            </a:r>
            <a:r>
              <a:rPr sz="1200" spc="5" dirty="0"/>
              <a:t> </a:t>
            </a:r>
            <a:r>
              <a:rPr sz="1200" spc="-10" dirty="0"/>
              <a:t>Recommendations</a:t>
            </a:r>
            <a:endParaRPr sz="1200"/>
          </a:p>
        </p:txBody>
      </p:sp>
      <p:sp>
        <p:nvSpPr>
          <p:cNvPr id="4" name="object 4"/>
          <p:cNvSpPr/>
          <p:nvPr/>
        </p:nvSpPr>
        <p:spPr>
          <a:xfrm>
            <a:off x="206555" y="48803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237" y="42799"/>
                </a:moveTo>
                <a:lnTo>
                  <a:pt x="18561" y="42799"/>
                </a:lnTo>
                <a:lnTo>
                  <a:pt x="15832" y="42256"/>
                </a:lnTo>
                <a:lnTo>
                  <a:pt x="0" y="24237"/>
                </a:lnTo>
                <a:lnTo>
                  <a:pt x="0" y="18561"/>
                </a:lnTo>
                <a:lnTo>
                  <a:pt x="18561" y="0"/>
                </a:lnTo>
                <a:lnTo>
                  <a:pt x="24237" y="0"/>
                </a:lnTo>
                <a:lnTo>
                  <a:pt x="42799" y="21399"/>
                </a:lnTo>
                <a:lnTo>
                  <a:pt x="42799" y="24237"/>
                </a:lnTo>
                <a:lnTo>
                  <a:pt x="24237" y="42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4816" y="417626"/>
            <a:ext cx="13068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Recommended</a:t>
            </a:r>
            <a:r>
              <a:rPr sz="900" u="sng" spc="1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Actions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285" y="713582"/>
            <a:ext cx="2281555" cy="4819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50" spc="30" dirty="0">
                <a:latin typeface="Arial MT"/>
                <a:cs typeface="Arial MT"/>
              </a:rPr>
              <a:t>Reduce</a:t>
            </a:r>
            <a:r>
              <a:rPr sz="650" spc="-5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discounting</a:t>
            </a:r>
            <a:r>
              <a:rPr sz="650" spc="-5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in</a:t>
            </a:r>
            <a:r>
              <a:rPr sz="650" spc="-5" dirty="0">
                <a:latin typeface="Arial MT"/>
                <a:cs typeface="Arial MT"/>
              </a:rPr>
              <a:t> </a:t>
            </a:r>
            <a:r>
              <a:rPr sz="650" spc="60" dirty="0">
                <a:latin typeface="Arial MT"/>
                <a:cs typeface="Arial MT"/>
              </a:rPr>
              <a:t>the</a:t>
            </a:r>
            <a:r>
              <a:rPr sz="650" spc="-5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Furniture</a:t>
            </a:r>
            <a:r>
              <a:rPr sz="650" spc="-5" dirty="0">
                <a:latin typeface="Arial MT"/>
                <a:cs typeface="Arial MT"/>
              </a:rPr>
              <a:t> </a:t>
            </a:r>
            <a:r>
              <a:rPr sz="650" spc="-10" dirty="0">
                <a:latin typeface="Arial MT"/>
                <a:cs typeface="Arial MT"/>
              </a:rPr>
              <a:t>category</a:t>
            </a:r>
            <a:endParaRPr sz="650">
              <a:latin typeface="Arial MT"/>
              <a:cs typeface="Arial MT"/>
            </a:endParaRPr>
          </a:p>
          <a:p>
            <a:pPr marL="12700" marR="5080">
              <a:lnSpc>
                <a:spcPct val="115199"/>
              </a:lnSpc>
            </a:pPr>
            <a:r>
              <a:rPr sz="650" spc="30" dirty="0">
                <a:latin typeface="Arial MT"/>
                <a:cs typeface="Arial MT"/>
              </a:rPr>
              <a:t>Increase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marketing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50" dirty="0">
                <a:latin typeface="Arial MT"/>
                <a:cs typeface="Arial MT"/>
              </a:rPr>
              <a:t>investment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in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Technology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45" dirty="0">
                <a:latin typeface="Arial MT"/>
                <a:cs typeface="Arial MT"/>
              </a:rPr>
              <a:t>products </a:t>
            </a:r>
            <a:r>
              <a:rPr sz="650" spc="30" dirty="0">
                <a:latin typeface="Arial MT"/>
                <a:cs typeface="Arial MT"/>
              </a:rPr>
              <a:t>Expand</a:t>
            </a:r>
            <a:r>
              <a:rPr sz="650" spc="15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operations</a:t>
            </a:r>
            <a:r>
              <a:rPr sz="650" spc="20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in</a:t>
            </a:r>
            <a:r>
              <a:rPr sz="650" spc="20" dirty="0">
                <a:latin typeface="Arial MT"/>
                <a:cs typeface="Arial MT"/>
              </a:rPr>
              <a:t> </a:t>
            </a:r>
            <a:r>
              <a:rPr sz="650" spc="40" dirty="0">
                <a:latin typeface="Arial MT"/>
                <a:cs typeface="Arial MT"/>
              </a:rPr>
              <a:t>high-performing</a:t>
            </a:r>
            <a:r>
              <a:rPr sz="650" spc="20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regions</a:t>
            </a:r>
            <a:r>
              <a:rPr sz="650" spc="20" dirty="0">
                <a:latin typeface="Arial MT"/>
                <a:cs typeface="Arial MT"/>
              </a:rPr>
              <a:t> </a:t>
            </a:r>
            <a:r>
              <a:rPr sz="650" spc="-10" dirty="0">
                <a:latin typeface="Arial MT"/>
                <a:cs typeface="Arial MT"/>
              </a:rPr>
              <a:t>(West)</a:t>
            </a:r>
            <a:r>
              <a:rPr sz="650" spc="30" dirty="0">
                <a:latin typeface="Arial MT"/>
                <a:cs typeface="Arial MT"/>
              </a:rPr>
              <a:t> Optimize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logistics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65" dirty="0">
                <a:latin typeface="Arial MT"/>
                <a:cs typeface="Arial MT"/>
              </a:rPr>
              <a:t>for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50" dirty="0">
                <a:latin typeface="Arial MT"/>
                <a:cs typeface="Arial MT"/>
              </a:rPr>
              <a:t>low-</a:t>
            </a:r>
            <a:r>
              <a:rPr sz="650" spc="60" dirty="0">
                <a:latin typeface="Arial MT"/>
                <a:cs typeface="Arial MT"/>
              </a:rPr>
              <a:t>profit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-10" dirty="0">
                <a:latin typeface="Arial MT"/>
                <a:cs typeface="Arial MT"/>
              </a:rPr>
              <a:t>regions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183" y="713582"/>
            <a:ext cx="100330" cy="5962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10"/>
              </a:spcBef>
            </a:pPr>
            <a:r>
              <a:rPr sz="650" spc="-25" dirty="0">
                <a:latin typeface="Arial MT"/>
                <a:cs typeface="Arial MT"/>
              </a:rPr>
              <a:t>1.</a:t>
            </a:r>
            <a:endParaRPr sz="6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650" spc="-25" dirty="0">
                <a:latin typeface="Arial MT"/>
                <a:cs typeface="Arial MT"/>
              </a:rPr>
              <a:t>2.</a:t>
            </a:r>
            <a:endParaRPr sz="6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sz="650" spc="-25" dirty="0">
                <a:latin typeface="Arial MT"/>
                <a:cs typeface="Arial MT"/>
              </a:rPr>
              <a:t>3.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-25" dirty="0">
                <a:latin typeface="Arial MT"/>
                <a:cs typeface="Arial MT"/>
              </a:rPr>
              <a:t>4.</a:t>
            </a:r>
            <a:endParaRPr sz="6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5.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285" y="1181521"/>
            <a:ext cx="215709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Arial MT"/>
                <a:cs typeface="Arial MT"/>
              </a:rPr>
              <a:t>Focus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marketing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campaigns </a:t>
            </a:r>
            <a:r>
              <a:rPr sz="650" spc="50" dirty="0">
                <a:latin typeface="Arial MT"/>
                <a:cs typeface="Arial MT"/>
              </a:rPr>
              <a:t>on</a:t>
            </a:r>
            <a:r>
              <a:rPr sz="650" spc="25" dirty="0">
                <a:latin typeface="Arial MT"/>
                <a:cs typeface="Arial MT"/>
              </a:rPr>
              <a:t> </a:t>
            </a:r>
            <a:r>
              <a:rPr sz="650" spc="30" dirty="0">
                <a:latin typeface="Arial MT"/>
                <a:cs typeface="Arial MT"/>
              </a:rPr>
              <a:t>high-value </a:t>
            </a:r>
            <a:r>
              <a:rPr sz="650" spc="40" dirty="0">
                <a:latin typeface="Arial MT"/>
                <a:cs typeface="Arial MT"/>
              </a:rPr>
              <a:t>customer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106" y="1295652"/>
            <a:ext cx="2423160" cy="4705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Arial MT"/>
                <a:cs typeface="Arial MT"/>
              </a:rPr>
              <a:t>segments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650">
              <a:latin typeface="Arial MT"/>
              <a:cs typeface="Arial MT"/>
            </a:endParaRPr>
          </a:p>
          <a:p>
            <a:pPr marL="12700" marR="5080">
              <a:lnSpc>
                <a:spcPct val="115199"/>
              </a:lnSpc>
            </a:pPr>
            <a:r>
              <a:rPr sz="650" dirty="0">
                <a:latin typeface="Arial MT"/>
                <a:cs typeface="Arial MT"/>
              </a:rPr>
              <a:t>These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dirty="0">
                <a:latin typeface="Arial MT"/>
                <a:cs typeface="Arial MT"/>
              </a:rPr>
              <a:t>actions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dirty="0">
                <a:latin typeface="Arial MT"/>
                <a:cs typeface="Arial MT"/>
              </a:rPr>
              <a:t>can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dirty="0">
                <a:latin typeface="Arial MT"/>
                <a:cs typeface="Arial MT"/>
              </a:rPr>
              <a:t>significantly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spc="45" dirty="0">
                <a:latin typeface="Arial MT"/>
                <a:cs typeface="Arial MT"/>
              </a:rPr>
              <a:t>improve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spc="65" dirty="0">
                <a:latin typeface="Arial MT"/>
                <a:cs typeface="Arial MT"/>
              </a:rPr>
              <a:t>profit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dirty="0">
                <a:latin typeface="Arial MT"/>
                <a:cs typeface="Arial MT"/>
              </a:rPr>
              <a:t>margins</a:t>
            </a:r>
            <a:r>
              <a:rPr sz="650" spc="170" dirty="0">
                <a:latin typeface="Arial MT"/>
                <a:cs typeface="Arial MT"/>
              </a:rPr>
              <a:t> </a:t>
            </a:r>
            <a:r>
              <a:rPr sz="650" spc="-25" dirty="0">
                <a:latin typeface="Arial MT"/>
                <a:cs typeface="Arial MT"/>
              </a:rPr>
              <a:t>and</a:t>
            </a:r>
            <a:r>
              <a:rPr sz="650" spc="30" dirty="0">
                <a:latin typeface="Arial MT"/>
                <a:cs typeface="Arial MT"/>
              </a:rPr>
              <a:t> market</a:t>
            </a:r>
            <a:r>
              <a:rPr sz="650" spc="85" dirty="0">
                <a:latin typeface="Arial MT"/>
                <a:cs typeface="Arial MT"/>
              </a:rPr>
              <a:t> </a:t>
            </a:r>
            <a:r>
              <a:rPr sz="650" spc="35" dirty="0">
                <a:latin typeface="Arial MT"/>
                <a:cs typeface="Arial MT"/>
              </a:rPr>
              <a:t>growth.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8022" y="157941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58" y="28532"/>
                </a:moveTo>
                <a:lnTo>
                  <a:pt x="12374" y="28532"/>
                </a:lnTo>
                <a:lnTo>
                  <a:pt x="10554" y="28170"/>
                </a:lnTo>
                <a:lnTo>
                  <a:pt x="0" y="16158"/>
                </a:lnTo>
                <a:lnTo>
                  <a:pt x="0" y="12374"/>
                </a:lnTo>
                <a:lnTo>
                  <a:pt x="12374" y="0"/>
                </a:lnTo>
                <a:lnTo>
                  <a:pt x="16158" y="0"/>
                </a:lnTo>
                <a:lnTo>
                  <a:pt x="28532" y="14266"/>
                </a:lnTo>
                <a:lnTo>
                  <a:pt x="28532" y="16158"/>
                </a:lnTo>
                <a:lnTo>
                  <a:pt x="16158" y="28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28925" cy="318135"/>
          </a:xfrm>
          <a:custGeom>
            <a:avLst/>
            <a:gdLst/>
            <a:ahLst/>
            <a:cxnLst/>
            <a:rect l="l" t="t" r="r" b="b"/>
            <a:pathLst>
              <a:path w="2828925" h="318135">
                <a:moveTo>
                  <a:pt x="2828925" y="318063"/>
                </a:moveTo>
                <a:lnTo>
                  <a:pt x="0" y="318063"/>
                </a:lnTo>
                <a:lnTo>
                  <a:pt x="0" y="0"/>
                </a:lnTo>
                <a:lnTo>
                  <a:pt x="2828925" y="0"/>
                </a:lnTo>
                <a:lnTo>
                  <a:pt x="2828925" y="318063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0"/>
              </a:spcBef>
            </a:pPr>
            <a:r>
              <a:rPr spc="-50" dirty="0"/>
              <a:t>Final</a:t>
            </a:r>
            <a:r>
              <a:rPr spc="-4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4" name="object 4"/>
          <p:cNvSpPr/>
          <p:nvPr/>
        </p:nvSpPr>
        <p:spPr>
          <a:xfrm>
            <a:off x="245366" y="422519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15545" y="24363"/>
                </a:moveTo>
                <a:lnTo>
                  <a:pt x="8817" y="24363"/>
                </a:lnTo>
                <a:lnTo>
                  <a:pt x="5946" y="23174"/>
                </a:lnTo>
                <a:lnTo>
                  <a:pt x="1189" y="18416"/>
                </a:lnTo>
                <a:lnTo>
                  <a:pt x="0" y="15545"/>
                </a:lnTo>
                <a:lnTo>
                  <a:pt x="0" y="8817"/>
                </a:lnTo>
                <a:lnTo>
                  <a:pt x="1189" y="5946"/>
                </a:lnTo>
                <a:lnTo>
                  <a:pt x="5946" y="1189"/>
                </a:lnTo>
                <a:lnTo>
                  <a:pt x="8817" y="0"/>
                </a:lnTo>
                <a:lnTo>
                  <a:pt x="15545" y="0"/>
                </a:lnTo>
                <a:lnTo>
                  <a:pt x="18416" y="1189"/>
                </a:lnTo>
                <a:lnTo>
                  <a:pt x="23174" y="5946"/>
                </a:lnTo>
                <a:lnTo>
                  <a:pt x="24363" y="8817"/>
                </a:lnTo>
                <a:lnTo>
                  <a:pt x="24363" y="12181"/>
                </a:lnTo>
                <a:lnTo>
                  <a:pt x="24363" y="15545"/>
                </a:lnTo>
                <a:lnTo>
                  <a:pt x="23174" y="18416"/>
                </a:lnTo>
                <a:lnTo>
                  <a:pt x="18416" y="23174"/>
                </a:lnTo>
                <a:lnTo>
                  <a:pt x="15545" y="24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7093" y="867150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15545" y="24363"/>
                </a:moveTo>
                <a:lnTo>
                  <a:pt x="8817" y="24363"/>
                </a:lnTo>
                <a:lnTo>
                  <a:pt x="5946" y="23173"/>
                </a:lnTo>
                <a:lnTo>
                  <a:pt x="1189" y="18416"/>
                </a:lnTo>
                <a:lnTo>
                  <a:pt x="0" y="15545"/>
                </a:lnTo>
                <a:lnTo>
                  <a:pt x="0" y="8817"/>
                </a:lnTo>
                <a:lnTo>
                  <a:pt x="1189" y="5946"/>
                </a:lnTo>
                <a:lnTo>
                  <a:pt x="5946" y="1189"/>
                </a:lnTo>
                <a:lnTo>
                  <a:pt x="8817" y="0"/>
                </a:lnTo>
                <a:lnTo>
                  <a:pt x="15545" y="0"/>
                </a:lnTo>
                <a:lnTo>
                  <a:pt x="18416" y="1189"/>
                </a:lnTo>
                <a:lnTo>
                  <a:pt x="23174" y="5946"/>
                </a:lnTo>
                <a:lnTo>
                  <a:pt x="24363" y="8817"/>
                </a:lnTo>
                <a:lnTo>
                  <a:pt x="24363" y="12181"/>
                </a:lnTo>
                <a:lnTo>
                  <a:pt x="24363" y="15545"/>
                </a:lnTo>
                <a:lnTo>
                  <a:pt x="23174" y="18416"/>
                </a:lnTo>
                <a:lnTo>
                  <a:pt x="18416" y="23173"/>
                </a:lnTo>
                <a:lnTo>
                  <a:pt x="15545" y="24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7093" y="1494506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15545" y="24363"/>
                </a:moveTo>
                <a:lnTo>
                  <a:pt x="8817" y="24363"/>
                </a:lnTo>
                <a:lnTo>
                  <a:pt x="5946" y="23173"/>
                </a:lnTo>
                <a:lnTo>
                  <a:pt x="1189" y="18416"/>
                </a:lnTo>
                <a:lnTo>
                  <a:pt x="0" y="15545"/>
                </a:lnTo>
                <a:lnTo>
                  <a:pt x="0" y="8817"/>
                </a:lnTo>
                <a:lnTo>
                  <a:pt x="1189" y="5946"/>
                </a:lnTo>
                <a:lnTo>
                  <a:pt x="5946" y="1189"/>
                </a:lnTo>
                <a:lnTo>
                  <a:pt x="8817" y="0"/>
                </a:lnTo>
                <a:lnTo>
                  <a:pt x="15545" y="0"/>
                </a:lnTo>
                <a:lnTo>
                  <a:pt x="18416" y="1189"/>
                </a:lnTo>
                <a:lnTo>
                  <a:pt x="23174" y="5946"/>
                </a:lnTo>
                <a:lnTo>
                  <a:pt x="24363" y="8817"/>
                </a:lnTo>
                <a:lnTo>
                  <a:pt x="24363" y="12181"/>
                </a:lnTo>
                <a:lnTo>
                  <a:pt x="24363" y="15545"/>
                </a:lnTo>
                <a:lnTo>
                  <a:pt x="23174" y="18416"/>
                </a:lnTo>
                <a:lnTo>
                  <a:pt x="18416" y="23173"/>
                </a:lnTo>
                <a:lnTo>
                  <a:pt x="15545" y="24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5212" y="296529"/>
            <a:ext cx="2609850" cy="15665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430"/>
              </a:spcBef>
            </a:pPr>
            <a:r>
              <a:rPr sz="85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Conclusion</a:t>
            </a:r>
            <a:endParaRPr sz="850">
              <a:latin typeface="Georgia"/>
              <a:cs typeface="Georgia"/>
            </a:endParaRPr>
          </a:p>
          <a:p>
            <a:pPr marL="12700" marR="29845">
              <a:lnSpc>
                <a:spcPct val="116300"/>
              </a:lnSpc>
              <a:spcBef>
                <a:spcPts val="130"/>
              </a:spcBef>
            </a:pPr>
            <a:r>
              <a:rPr sz="550" spc="-10" dirty="0">
                <a:latin typeface="Georgia"/>
                <a:cs typeface="Georgia"/>
              </a:rPr>
              <a:t>This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project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demonstrates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how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business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intelligence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dashboards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can</a:t>
            </a:r>
            <a:r>
              <a:rPr sz="550" spc="9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transform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raw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data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into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actionable</a:t>
            </a:r>
            <a:r>
              <a:rPr sz="550" spc="2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insights.</a:t>
            </a:r>
            <a:endParaRPr sz="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55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800" u="sng" spc="-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Key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outcomes:</a:t>
            </a:r>
            <a:endParaRPr sz="800">
              <a:latin typeface="Georgia"/>
              <a:cs typeface="Georgia"/>
            </a:endParaRPr>
          </a:p>
          <a:p>
            <a:pPr marL="53340" indent="-45720">
              <a:lnSpc>
                <a:spcPct val="100000"/>
              </a:lnSpc>
              <a:spcBef>
                <a:spcPts val="155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Clear</a:t>
            </a:r>
            <a:r>
              <a:rPr sz="550" spc="5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visibility</a:t>
            </a:r>
            <a:r>
              <a:rPr sz="550" spc="6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into</a:t>
            </a:r>
            <a:r>
              <a:rPr sz="550" spc="6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product</a:t>
            </a:r>
            <a:r>
              <a:rPr sz="550" spc="6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performance</a:t>
            </a:r>
            <a:endParaRPr sz="550">
              <a:latin typeface="Georgia"/>
              <a:cs typeface="Georgia"/>
            </a:endParaRPr>
          </a:p>
          <a:p>
            <a:pPr marL="53340" indent="-45720">
              <a:lnSpc>
                <a:spcPct val="100000"/>
              </a:lnSpc>
              <a:spcBef>
                <a:spcPts val="105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Identification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of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profit-destroying</a:t>
            </a:r>
            <a:r>
              <a:rPr sz="550" spc="7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discounts</a:t>
            </a:r>
            <a:endParaRPr sz="550">
              <a:latin typeface="Georgia"/>
              <a:cs typeface="Georgia"/>
            </a:endParaRPr>
          </a:p>
          <a:p>
            <a:pPr marL="53340" indent="-45720">
              <a:lnSpc>
                <a:spcPct val="100000"/>
              </a:lnSpc>
              <a:spcBef>
                <a:spcPts val="105"/>
              </a:spcBef>
              <a:buChar char="*"/>
              <a:tabLst>
                <a:tab pos="53340" algn="l"/>
              </a:tabLst>
            </a:pPr>
            <a:r>
              <a:rPr sz="550" dirty="0">
                <a:latin typeface="Georgia"/>
                <a:cs typeface="Georgia"/>
              </a:rPr>
              <a:t>Insights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into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regional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market</a:t>
            </a:r>
            <a:r>
              <a:rPr sz="550" spc="3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performance</a:t>
            </a:r>
            <a:endParaRPr sz="550">
              <a:latin typeface="Georgia"/>
              <a:cs typeface="Georgia"/>
            </a:endParaRPr>
          </a:p>
          <a:p>
            <a:pPr marL="53340" indent="-45720">
              <a:lnSpc>
                <a:spcPct val="100000"/>
              </a:lnSpc>
              <a:spcBef>
                <a:spcPts val="110"/>
              </a:spcBef>
              <a:buChar char="*"/>
              <a:tabLst>
                <a:tab pos="53340" algn="l"/>
              </a:tabLst>
            </a:pPr>
            <a:r>
              <a:rPr sz="550" spc="10" dirty="0">
                <a:latin typeface="Georgia"/>
                <a:cs typeface="Georgia"/>
              </a:rPr>
              <a:t>Strategic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20" dirty="0">
                <a:latin typeface="Georgia"/>
                <a:cs typeface="Georgia"/>
              </a:rPr>
              <a:t>recommendations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for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growth</a:t>
            </a:r>
            <a:endParaRPr sz="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55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800" u="sng" spc="-3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Final</a:t>
            </a:r>
            <a:r>
              <a:rPr sz="800" u="sng" spc="-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Ins</a:t>
            </a:r>
            <a:r>
              <a:rPr sz="800" spc="-10" dirty="0">
                <a:latin typeface="Georgia"/>
                <a:cs typeface="Georgia"/>
              </a:rPr>
              <a:t>ig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ht</a:t>
            </a:r>
            <a:endParaRPr sz="800">
              <a:latin typeface="Georgia"/>
              <a:cs typeface="Georgia"/>
            </a:endParaRPr>
          </a:p>
          <a:p>
            <a:pPr marL="12700" marR="5080">
              <a:lnSpc>
                <a:spcPct val="116300"/>
              </a:lnSpc>
              <a:spcBef>
                <a:spcPts val="45"/>
              </a:spcBef>
            </a:pPr>
            <a:r>
              <a:rPr sz="550" dirty="0">
                <a:latin typeface="Georgia"/>
                <a:cs typeface="Georgia"/>
              </a:rPr>
              <a:t>Furniture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category drives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high</a:t>
            </a:r>
            <a:r>
              <a:rPr sz="550" spc="10" dirty="0">
                <a:latin typeface="Georgia"/>
                <a:cs typeface="Georgia"/>
              </a:rPr>
              <a:t> sales but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suffers from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negative </a:t>
            </a:r>
            <a:r>
              <a:rPr sz="550" dirty="0">
                <a:latin typeface="Georgia"/>
                <a:cs typeface="Georgia"/>
              </a:rPr>
              <a:t>profit</a:t>
            </a:r>
            <a:r>
              <a:rPr sz="550" spc="10" dirty="0">
                <a:latin typeface="Georgia"/>
                <a:cs typeface="Georgia"/>
              </a:rPr>
              <a:t> due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to </a:t>
            </a:r>
            <a:r>
              <a:rPr sz="550" spc="-20" dirty="0">
                <a:latin typeface="Georgia"/>
                <a:cs typeface="Georgia"/>
              </a:rPr>
              <a:t>heavy</a:t>
            </a:r>
            <a:r>
              <a:rPr sz="550" spc="500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discounting.</a:t>
            </a:r>
            <a:endParaRPr sz="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10" dirty="0">
                <a:latin typeface="Georgia"/>
                <a:cs typeface="Georgia"/>
              </a:rPr>
              <a:t>Reducing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discounts</a:t>
            </a:r>
            <a:r>
              <a:rPr sz="550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by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dirty="0">
                <a:latin typeface="Georgia"/>
                <a:cs typeface="Georgia"/>
              </a:rPr>
              <a:t>10% </a:t>
            </a:r>
            <a:r>
              <a:rPr sz="550" spc="10" dirty="0">
                <a:latin typeface="Georgia"/>
                <a:cs typeface="Georgia"/>
              </a:rPr>
              <a:t>could</a:t>
            </a:r>
            <a:r>
              <a:rPr sz="550" dirty="0">
                <a:latin typeface="Georgia"/>
                <a:cs typeface="Georgia"/>
              </a:rPr>
              <a:t> significantly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10" dirty="0">
                <a:latin typeface="Georgia"/>
                <a:cs typeface="Georgia"/>
              </a:rPr>
              <a:t>improve</a:t>
            </a:r>
            <a:r>
              <a:rPr sz="550" dirty="0">
                <a:latin typeface="Georgia"/>
                <a:cs typeface="Georgia"/>
              </a:rPr>
              <a:t> profit</a:t>
            </a:r>
            <a:r>
              <a:rPr sz="550" spc="5" dirty="0">
                <a:latin typeface="Georgia"/>
                <a:cs typeface="Georgia"/>
              </a:rPr>
              <a:t> </a:t>
            </a:r>
            <a:r>
              <a:rPr sz="550" spc="-10" dirty="0">
                <a:latin typeface="Georgia"/>
                <a:cs typeface="Georgia"/>
              </a:rPr>
              <a:t>margins.</a:t>
            </a:r>
            <a:endParaRPr sz="550">
              <a:latin typeface="Georgia"/>
              <a:cs typeface="Georgia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4462" y="0"/>
            <a:ext cx="1414780" cy="2000250"/>
          </a:xfrm>
          <a:custGeom>
            <a:avLst/>
            <a:gdLst/>
            <a:ahLst/>
            <a:cxnLst/>
            <a:rect l="l" t="t" r="r" b="b"/>
            <a:pathLst>
              <a:path w="1414780" h="2000250">
                <a:moveTo>
                  <a:pt x="1414462" y="2000249"/>
                </a:moveTo>
                <a:lnTo>
                  <a:pt x="0" y="2000249"/>
                </a:lnTo>
                <a:lnTo>
                  <a:pt x="0" y="0"/>
                </a:lnTo>
                <a:lnTo>
                  <a:pt x="1414462" y="0"/>
                </a:lnTo>
                <a:lnTo>
                  <a:pt x="1414462" y="2000249"/>
                </a:lnTo>
                <a:close/>
              </a:path>
            </a:pathLst>
          </a:custGeom>
          <a:solidFill>
            <a:srgbClr val="5E52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6231" y="774933"/>
            <a:ext cx="8763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65" dirty="0">
                <a:latin typeface="Calibri"/>
                <a:cs typeface="Calibri"/>
              </a:rPr>
              <a:t>THAN</a:t>
            </a:r>
            <a:r>
              <a:rPr sz="1250" b="1" spc="65" dirty="0">
                <a:solidFill>
                  <a:srgbClr val="FFFFFF"/>
                </a:solidFill>
                <a:latin typeface="Calibri"/>
                <a:cs typeface="Calibri"/>
              </a:rPr>
              <a:t>KYOU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789" y="1764162"/>
            <a:ext cx="1131260" cy="132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565</Words>
  <Application>Microsoft Office PowerPoint</Application>
  <PresentationFormat>Custom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Georgia</vt:lpstr>
      <vt:lpstr>Lucida Sans Unicode</vt:lpstr>
      <vt:lpstr>Office Theme</vt:lpstr>
      <vt:lpstr>Superstore Business Intelligence Dashboard</vt:lpstr>
      <vt:lpstr>Business Problem</vt:lpstr>
      <vt:lpstr>Dataset Description</vt:lpstr>
      <vt:lpstr>Data Cleaning &amp; Preparation</vt:lpstr>
      <vt:lpstr>Dashboard Architecture</vt:lpstr>
      <vt:lpstr>Executive Dashboard</vt:lpstr>
      <vt:lpstr>PowerPoint Presentation</vt:lpstr>
      <vt:lpstr>Market Performance Insights</vt:lpstr>
      <vt:lpstr>Key Business Insights</vt:lpstr>
      <vt:lpstr>Business Interpretation</vt:lpstr>
      <vt:lpstr>Strategic Recommendations</vt:lpstr>
      <vt:lpstr>Final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</dc:title>
  <dc:creator>Ruchika Galgate</dc:creator>
  <cp:keywords>DAHDPWy2hPw,BAGIdYdC9vA,0</cp:keywords>
  <cp:lastModifiedBy>Satyam Birajdar</cp:lastModifiedBy>
  <cp:revision>1</cp:revision>
  <dcterms:created xsi:type="dcterms:W3CDTF">2026-03-07T08:54:13Z</dcterms:created>
  <dcterms:modified xsi:type="dcterms:W3CDTF">2026-03-07T09:17:07Z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2026-03-07T00:00:00Z</vt:filetime>
  </property>
  <property fmtid="{D5CDD505-2E9C-101B-9397-08002B2CF9AE}" pid="5" name="Producer">
    <vt:lpwstr>Canva</vt:lpwstr>
  </property>
</Properties>
</file>